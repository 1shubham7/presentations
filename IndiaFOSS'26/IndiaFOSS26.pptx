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jpe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jpe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jpe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jpe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jpeg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jpeg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jpeg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jpeg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jpeg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jpeg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jpeg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FFFFFF"/>
              </a:buClr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FFFFFF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buClr>
                <a:srgbClr val="FFFFFF"/>
              </a:buClr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FFFFFF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buClr>
                <a:srgbClr val="FFFFFF"/>
              </a:buClr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FFFFFF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buClr>
                <a:srgbClr val="FFFFFF"/>
              </a:buClr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FFFFFF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buClr>
                <a:srgbClr val="FFFFFF"/>
              </a:buClr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FFFFFF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buClr>
                <a:srgbClr val="FFFFFF"/>
              </a:buClr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FFFFFF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buClr>
                <a:srgbClr val="FFFFFF"/>
              </a:buClr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FFFFFF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buClr>
                <a:srgbClr val="FFFFFF"/>
              </a:buClr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FFFFFF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buClr>
                <a:srgbClr val="FFFFFF"/>
              </a:buClr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FFFFFF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buClr>
                <a:srgbClr val="FFFFFF"/>
              </a:buClr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FFFFFF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buClr>
                <a:srgbClr val="FFFFFF"/>
              </a:buClr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FFFFFF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buClr>
                <a:srgbClr val="FFFFFF"/>
              </a:buClr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FFFFFF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>
            <a:lvl1pPr algn="l">
              <a:buClr>
                <a:srgbClr val="FFFFFF"/>
              </a:buClr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FFFFFF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>
            <a:lvl1pPr algn="l">
              <a:buClr>
                <a:srgbClr val="FFFFFF"/>
              </a:buClr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FFFFFF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>
            <a:lvl1pPr algn="l">
              <a:buClr>
                <a:srgbClr val="FFFFFF"/>
              </a:buClr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FFFFFF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>
            <a:lvl1pPr algn="l">
              <a:buClr>
                <a:srgbClr val="FFFFFF"/>
              </a:buClr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FFFFFF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>
            <a:lvl1pPr algn="l">
              <a:buClr>
                <a:srgbClr val="FFFFFF"/>
              </a:buClr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FFFFFF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>
            <a:lvl1pPr algn="l">
              <a:buClr>
                <a:srgbClr val="FFFFFF"/>
              </a:buClr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FFFFFF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4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FFFFFF"/>
              </a:buClr>
              <a:buFont typeface="Wingdings" charset="2"/>
              <a:buChar char=""/>
              <a:defRPr lang="en-US" sz="32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FFFFFF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FFFFFF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FFFFFF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FFFFFF"/>
              </a:buClr>
              <a:buFont typeface="Wingdings" charset="2"/>
              <a:buChar char=""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FFFFFF"/>
              </a:buClr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FFFFFF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FFFFFF"/>
              </a:buClr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FFFFFF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FFFFFF"/>
              </a:buClr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FFFFFF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buClr>
                <a:srgbClr val="FFFFFF"/>
              </a:buClr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FFFFFF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FFFFFF"/>
              </a:buClr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FFFFFF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buClr>
                <a:srgbClr val="FFFFFF"/>
              </a:buClr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FFFFFF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2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3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6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7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8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9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Default 10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1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6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8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8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8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8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8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8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1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142;g31ed28cfa71_0_238"/>
          <p:cNvSpPr/>
          <p:nvPr/>
        </p:nvSpPr>
        <p:spPr>
          <a:xfrm>
            <a:off x="468000" y="3426120"/>
            <a:ext cx="5141520" cy="106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ctr">
            <a:normAutofit fontScale="85000" lnSpcReduction="9999"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28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 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28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 Shubham Singh, Obmondo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28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 Ashish Jaiswal, Obmondo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Google Shape;143;g31ed28cfa71_0_ 2"/>
          <p:cNvSpPr/>
          <p:nvPr/>
        </p:nvSpPr>
        <p:spPr>
          <a:xfrm>
            <a:off x="540000" y="2160000"/>
            <a:ext cx="10812600" cy="191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3600" b="1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Cilium Network Policy Anti-Patterns I Learned the Hard Way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6" name=""/>
          <p:cNvPicPr/>
          <p:nvPr/>
        </p:nvPicPr>
        <p:blipFill>
          <a:blip r:embed="rId1"/>
          <a:stretch/>
        </p:blipFill>
        <p:spPr>
          <a:xfrm>
            <a:off x="9364320" y="360000"/>
            <a:ext cx="2690280" cy="1074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148;g31ed28cfa71_0_312"/>
          <p:cNvSpPr/>
          <p:nvPr/>
        </p:nvSpPr>
        <p:spPr>
          <a:xfrm>
            <a:off x="371520" y="-46080"/>
            <a:ext cx="10509840" cy="81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ctr">
            <a:norm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2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About Myself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" name="Google Shape;149;g31ed28cfa71_0_ 2"/>
          <p:cNvPicPr/>
          <p:nvPr/>
        </p:nvPicPr>
        <p:blipFill>
          <a:blip r:embed="rId1"/>
          <a:stretch/>
        </p:blipFill>
        <p:spPr>
          <a:xfrm>
            <a:off x="8235360" y="2261520"/>
            <a:ext cx="2531520" cy="253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Google Shape;150;g31ed28cfa71_0_ 2"/>
          <p:cNvSpPr/>
          <p:nvPr/>
        </p:nvSpPr>
        <p:spPr>
          <a:xfrm>
            <a:off x="7944480" y="5007960"/>
            <a:ext cx="3112560" cy="6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rgbClr val="000000"/>
                </a:solidFill>
                <a:effectLst/>
                <a:uFillTx/>
                <a:latin typeface="Microsoft Yahei"/>
                <a:ea typeface="Microsoft Yahei"/>
              </a:rPr>
              <a:t>GitHub: @1shubham7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rgbClr val="000000"/>
                </a:solidFill>
                <a:effectLst/>
                <a:uFillTx/>
                <a:latin typeface="Microsoft Yahei"/>
                <a:ea typeface="Microsoft Yahei"/>
              </a:rPr>
              <a:t>Twitter: @1shubham7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rgbClr val="000000"/>
                </a:solidFill>
                <a:effectLst/>
                <a:uFillTx/>
                <a:latin typeface="Microsoft Yahei"/>
                <a:ea typeface="Microsoft Yahei"/>
              </a:rPr>
              <a:t>Youtube: @pea-shooter17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Google Shape;151;g31ed28cfa71_0_ 2"/>
          <p:cNvSpPr/>
          <p:nvPr/>
        </p:nvSpPr>
        <p:spPr>
          <a:xfrm>
            <a:off x="1661040" y="2450520"/>
            <a:ext cx="5947200" cy="30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800" b="1" u="none" strike="noStrike">
                <a:solidFill>
                  <a:srgbClr val="595959"/>
                </a:solidFill>
                <a:effectLst/>
                <a:uFillTx/>
                <a:latin typeface="Microsoft Yahei"/>
                <a:ea typeface="Microsoft Yahei"/>
              </a:rPr>
              <a:t>Hi 👋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800" b="1" u="none" strike="noStrike">
                <a:solidFill>
                  <a:srgbClr val="595959"/>
                </a:solidFill>
                <a:effectLst/>
                <a:uFillTx/>
                <a:latin typeface="Microsoft Yahei"/>
                <a:ea typeface="Microsoft Yahei"/>
              </a:rPr>
              <a:t>This is Shubham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595959"/>
              </a:buClr>
              <a:buFont typeface="Microsoft Yahei"/>
              <a:buChar char="●"/>
              <a:tabLst>
                <a:tab pos="0" algn="l"/>
              </a:tabLst>
            </a:pPr>
            <a:r>
              <a:rPr lang="en" sz="1400" b="0" u="none" strike="noStrike">
                <a:solidFill>
                  <a:srgbClr val="595959"/>
                </a:solidFill>
                <a:effectLst/>
                <a:uFillTx/>
                <a:latin typeface="Microsoft Yahei"/>
                <a:ea typeface="Microsoft Yahei"/>
              </a:rPr>
              <a:t>SRE @Obmondo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595959"/>
              </a:buClr>
              <a:buFont typeface="Microsoft Yahei"/>
              <a:buChar char="●"/>
              <a:tabLst>
                <a:tab pos="0" algn="l"/>
              </a:tabLst>
            </a:pPr>
            <a:r>
              <a:rPr lang="en" sz="1400" b="0" u="none" strike="noStrike">
                <a:solidFill>
                  <a:srgbClr val="595959"/>
                </a:solidFill>
                <a:effectLst/>
                <a:uFillTx/>
                <a:latin typeface="Microsoft Yahei"/>
                <a:ea typeface="Microsoft Yahei"/>
              </a:rPr>
              <a:t>Certified Kubernetes Administrator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595959"/>
              </a:buClr>
              <a:buFont typeface="Microsoft Yahei"/>
              <a:buChar char="●"/>
              <a:tabLst>
                <a:tab pos="0" algn="l"/>
              </a:tabLst>
            </a:pPr>
            <a:r>
              <a:rPr lang="en" sz="1400" b="0" u="none" strike="noStrike">
                <a:solidFill>
                  <a:srgbClr val="595959"/>
                </a:solidFill>
                <a:effectLst/>
                <a:uFillTx/>
                <a:latin typeface="Microsoft Yahei"/>
                <a:ea typeface="Microsoft Yahei"/>
              </a:rPr>
              <a:t>CNCF Contributor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595959"/>
              </a:buClr>
              <a:buFont typeface="Microsoft Yahei"/>
              <a:buChar char="●"/>
              <a:tabLst>
                <a:tab pos="0" algn="l"/>
              </a:tabLst>
            </a:pPr>
            <a:r>
              <a:rPr lang="en" sz="1400" b="0" u="none" strike="noStrike">
                <a:solidFill>
                  <a:srgbClr val="595959"/>
                </a:solidFill>
                <a:effectLst/>
                <a:uFillTx/>
                <a:latin typeface="Microsoft Yahei"/>
                <a:ea typeface="Microsoft Yahei"/>
              </a:rPr>
              <a:t>LFX graduated mentee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Rectangle 2"/>
          <p:cNvSpPr/>
          <p:nvPr/>
        </p:nvSpPr>
        <p:spPr>
          <a:xfrm>
            <a:off x="0" y="0"/>
            <a:ext cx="12186720" cy="680400"/>
          </a:xfrm>
          <a:prstGeom prst="rect">
            <a:avLst/>
          </a:prstGeom>
          <a:gradFill rotWithShape="0">
            <a:gsLst>
              <a:gs pos="0">
                <a:srgbClr val="D83749"/>
              </a:gs>
              <a:gs pos="100000">
                <a:srgbClr val="54267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193320" y="105840"/>
            <a:ext cx="2233080" cy="48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" sz="2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About Us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148;g31ed28cfa71_0_ 1"/>
          <p:cNvSpPr/>
          <p:nvPr/>
        </p:nvSpPr>
        <p:spPr>
          <a:xfrm>
            <a:off x="371520" y="-46080"/>
            <a:ext cx="10509840" cy="81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tIns="34200" rIns="68400" bIns="34200" anchor="ctr">
            <a:norm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2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About Myself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Google Shape;150;g31ed28cfa71_0_ 3"/>
          <p:cNvSpPr/>
          <p:nvPr/>
        </p:nvSpPr>
        <p:spPr>
          <a:xfrm>
            <a:off x="7944480" y="5007960"/>
            <a:ext cx="3112560" cy="6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rgbClr val="000000"/>
                </a:solidFill>
                <a:effectLst/>
                <a:uFillTx/>
                <a:latin typeface="Microsoft Yahei"/>
                <a:ea typeface="Microsoft Yahei"/>
              </a:rPr>
              <a:t>GitHub: @ashish1099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Google Shape;151;g31ed28cfa71_0_ 3"/>
          <p:cNvSpPr/>
          <p:nvPr/>
        </p:nvSpPr>
        <p:spPr>
          <a:xfrm>
            <a:off x="1661040" y="2450520"/>
            <a:ext cx="5947200" cy="30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800" b="1" u="none" strike="noStrike">
                <a:solidFill>
                  <a:srgbClr val="595959"/>
                </a:solidFill>
                <a:effectLst/>
                <a:uFillTx/>
                <a:latin typeface="Microsoft Yahei"/>
                <a:ea typeface="Microsoft Yahei"/>
              </a:rPr>
              <a:t>Hi 👋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800" b="1" u="none" strike="noStrike">
                <a:solidFill>
                  <a:srgbClr val="595959"/>
                </a:solidFill>
                <a:effectLst/>
                <a:uFillTx/>
                <a:latin typeface="Microsoft Yahei"/>
                <a:ea typeface="Microsoft Yahei"/>
              </a:rPr>
              <a:t>This is Ashish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595959"/>
              </a:buClr>
              <a:buFont typeface="Microsoft Yahei"/>
              <a:buChar char="●"/>
              <a:tabLst>
                <a:tab pos="0" algn="l"/>
              </a:tabLst>
            </a:pPr>
            <a:r>
              <a:rPr lang="en" sz="1400" b="0" u="none" strike="noStrike">
                <a:solidFill>
                  <a:srgbClr val="595959"/>
                </a:solidFill>
                <a:effectLst/>
                <a:uFillTx/>
                <a:latin typeface="Microsoft Yahei"/>
                <a:ea typeface="Microsoft Yahei"/>
              </a:rPr>
              <a:t>CTO @Obmondo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595959"/>
              </a:buClr>
              <a:buFont typeface="Microsoft Yahei"/>
              <a:buChar char="●"/>
              <a:tabLst>
                <a:tab pos="0" algn="l"/>
              </a:tabLst>
            </a:pPr>
            <a:r>
              <a:rPr lang="en" sz="1400" b="0" u="none" strike="noStrike">
                <a:solidFill>
                  <a:srgbClr val="595959"/>
                </a:solidFill>
                <a:effectLst/>
                <a:uFillTx/>
                <a:latin typeface="Microsoft Yahei"/>
                <a:ea typeface="Microsoft Yahei"/>
              </a:rPr>
              <a:t>15+ years building Cloud Native Solutions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595959"/>
              </a:buClr>
              <a:buFont typeface="Microsoft Yahei"/>
              <a:buChar char="●"/>
              <a:tabLst>
                <a:tab pos="0" algn="l"/>
              </a:tabLst>
            </a:pPr>
            <a:r>
              <a:rPr lang="en" sz="1400" b="0" u="none" strike="noStrike">
                <a:solidFill>
                  <a:srgbClr val="595959"/>
                </a:solidFill>
                <a:effectLst/>
                <a:uFillTx/>
                <a:latin typeface="Microsoft Yahei"/>
                <a:ea typeface="Microsoft Yahei"/>
              </a:rPr>
              <a:t>Maintainer LinuxAid and KubeAid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Rectangle 25"/>
          <p:cNvSpPr/>
          <p:nvPr/>
        </p:nvSpPr>
        <p:spPr>
          <a:xfrm>
            <a:off x="0" y="0"/>
            <a:ext cx="12186720" cy="680400"/>
          </a:xfrm>
          <a:prstGeom prst="rect">
            <a:avLst/>
          </a:prstGeom>
          <a:gradFill rotWithShape="0">
            <a:gsLst>
              <a:gs pos="0">
                <a:srgbClr val="D83749"/>
              </a:gs>
              <a:gs pos="100000">
                <a:srgbClr val="54267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193320" y="105840"/>
            <a:ext cx="2233080" cy="48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" sz="2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About Us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8" name=""/>
          <p:cNvPicPr/>
          <p:nvPr/>
        </p:nvPicPr>
        <p:blipFill>
          <a:blip r:embed="rId1"/>
          <a:stretch/>
        </p:blipFill>
        <p:spPr>
          <a:xfrm>
            <a:off x="8460000" y="2700000"/>
            <a:ext cx="2284200" cy="2284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1"/>
          <p:cNvSpPr/>
          <p:nvPr/>
        </p:nvSpPr>
        <p:spPr>
          <a:xfrm>
            <a:off x="0" y="0"/>
            <a:ext cx="12186720" cy="680400"/>
          </a:xfrm>
          <a:prstGeom prst="rect">
            <a:avLst/>
          </a:prstGeom>
          <a:gradFill rotWithShape="0">
            <a:gsLst>
              <a:gs pos="0">
                <a:srgbClr val="D83749"/>
              </a:gs>
              <a:gs pos="100000">
                <a:srgbClr val="54267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3"/>
          <p:cNvSpPr/>
          <p:nvPr/>
        </p:nvSpPr>
        <p:spPr>
          <a:xfrm>
            <a:off x="502920" y="246960"/>
            <a:ext cx="11150280" cy="2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19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Agenda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4"/>
          <p:cNvSpPr/>
          <p:nvPr/>
        </p:nvSpPr>
        <p:spPr>
          <a:xfrm>
            <a:off x="502920" y="1234440"/>
            <a:ext cx="10510200" cy="145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16000" indent="-216000">
              <a:lnSpc>
                <a:spcPct val="115000"/>
              </a:lnSpc>
              <a:spcAft>
                <a:spcPts val="180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900" b="0" u="none" strike="noStrike">
                <a:solidFill>
                  <a:srgbClr val="3D4E5C"/>
                </a:solidFill>
                <a:effectLst/>
                <a:uFillTx/>
                <a:latin typeface="Arial"/>
                <a:ea typeface="DejaVu Sans"/>
              </a:rPr>
              <a:t> What Cilium is, in one breath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spcAft>
                <a:spcPts val="180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900" b="0" u="none" strike="noStrike">
                <a:solidFill>
                  <a:srgbClr val="3D4E5C"/>
                </a:solidFill>
                <a:effectLst/>
                <a:uFillTx/>
                <a:latin typeface="Arial"/>
                <a:ea typeface="DejaVu Sans"/>
              </a:rPr>
              <a:t> Why we chose CiliumNetworkPolicy over vanilla NetworkPolicy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spcAft>
                <a:spcPts val="180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900" b="0" u="none" strike="noStrike">
                <a:solidFill>
                  <a:srgbClr val="3D4E5C"/>
                </a:solidFill>
                <a:effectLst/>
                <a:uFillTx/>
                <a:latin typeface="Arial"/>
                <a:ea typeface="DejaVu Sans"/>
              </a:rPr>
              <a:t> 8 anti-patterns from real production incidents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Box 1"/>
          <p:cNvSpPr/>
          <p:nvPr/>
        </p:nvSpPr>
        <p:spPr>
          <a:xfrm>
            <a:off x="502920" y="54720"/>
            <a:ext cx="987012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1050" b="1" u="none" strike="noStrike">
                <a:solidFill>
                  <a:srgbClr val="FBD9DF"/>
                </a:solidFill>
                <a:effectLst/>
                <a:uFillTx/>
                <a:latin typeface="Arial"/>
                <a:ea typeface="DejaVu Sans"/>
              </a:rPr>
              <a:t>01 · FOUNDATIONS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2"/>
          <p:cNvSpPr/>
          <p:nvPr/>
        </p:nvSpPr>
        <p:spPr>
          <a:xfrm>
            <a:off x="502920" y="246960"/>
            <a:ext cx="987012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What is Cilium?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3"/>
          <p:cNvSpPr/>
          <p:nvPr/>
        </p:nvSpPr>
        <p:spPr>
          <a:xfrm>
            <a:off x="502920" y="1097280"/>
            <a:ext cx="6029640" cy="28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16000" indent="-216000">
              <a:lnSpc>
                <a:spcPct val="115000"/>
              </a:lnSpc>
              <a:spcAft>
                <a:spcPts val="180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3D4E5C"/>
                </a:solidFill>
                <a:effectLst/>
                <a:uFillTx/>
                <a:latin typeface="Arial"/>
                <a:ea typeface="DejaVu Sans"/>
              </a:rPr>
              <a:t>An eBPF-based networking, observability &amp; </a:t>
            </a:r>
            <a:r>
              <a:rPr lang="en-IN" sz="1800" b="0" u="none" strike="noStrike">
                <a:solidFill>
                  <a:srgbClr val="3D4E5C"/>
                </a:solidFill>
                <a:effectLst/>
                <a:uFillTx/>
                <a:latin typeface="Arial"/>
                <a:ea typeface="DejaVu Sans"/>
              </a:rPr>
              <a:t>security layer for Kubernetes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spcAft>
                <a:spcPts val="180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3D4E5C"/>
                </a:solidFill>
                <a:effectLst/>
                <a:uFillTx/>
                <a:latin typeface="Arial"/>
                <a:ea typeface="DejaVu Sans"/>
              </a:rPr>
              <a:t>Replaces kube-proxy; enforces policy in the </a:t>
            </a:r>
            <a:r>
              <a:rPr lang="en-IN" sz="1800" b="0" u="none" strike="noStrike">
                <a:solidFill>
                  <a:srgbClr val="3D4E5C"/>
                </a:solidFill>
                <a:effectLst/>
                <a:uFillTx/>
                <a:latin typeface="Arial"/>
                <a:ea typeface="DejaVu Sans"/>
              </a:rPr>
              <a:t>kernel, not iptables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spcAft>
                <a:spcPts val="180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3D4E5C"/>
                </a:solidFill>
                <a:effectLst/>
                <a:uFillTx/>
                <a:latin typeface="Arial"/>
                <a:ea typeface="DejaVu Sans"/>
              </a:rPr>
              <a:t>Identity-based security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spcAft>
                <a:spcPts val="180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3D4E5C"/>
                </a:solidFill>
                <a:effectLst/>
                <a:uFillTx/>
                <a:latin typeface="Arial"/>
                <a:ea typeface="DejaVu Sans"/>
              </a:rPr>
              <a:t>Ships Hubble for flow visibility and </a:t>
            </a:r>
            <a:r>
              <a:rPr lang="en-IN" sz="1800" b="0" u="none" strike="noStrike">
                <a:solidFill>
                  <a:srgbClr val="3D4E5C"/>
                </a:solidFill>
                <a:effectLst/>
                <a:uFillTx/>
                <a:latin typeface="Arial"/>
                <a:ea typeface="DejaVu Sans"/>
              </a:rPr>
              <a:t>CiliumNetworkPolicy as a richer superset of the </a:t>
            </a:r>
            <a:r>
              <a:rPr lang="en-IN" sz="1800" b="0" u="none" strike="noStrike">
                <a:solidFill>
                  <a:srgbClr val="3D4E5C"/>
                </a:solidFill>
                <a:effectLst/>
                <a:uFillTx/>
                <a:latin typeface="Arial"/>
                <a:ea typeface="DejaVu Sans"/>
              </a:rPr>
              <a:t>native NetworkPolicy API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Rectangle 4"/>
          <p:cNvSpPr/>
          <p:nvPr/>
        </p:nvSpPr>
        <p:spPr>
          <a:xfrm>
            <a:off x="6949440" y="1097280"/>
            <a:ext cx="4703760" cy="392652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5"/>
          <p:cNvSpPr/>
          <p:nvPr/>
        </p:nvSpPr>
        <p:spPr>
          <a:xfrm>
            <a:off x="7178040" y="1325880"/>
            <a:ext cx="4292280" cy="2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1400" b="1" u="none" strike="noStrike">
                <a:solidFill>
                  <a:srgbClr val="0D2436"/>
                </a:solidFill>
                <a:effectLst/>
                <a:uFillTx/>
                <a:latin typeface="Arial"/>
                <a:ea typeface="DejaVu Sans"/>
              </a:rPr>
              <a:t>Traditional NetworkPolicy vs CNP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6"/>
          <p:cNvSpPr/>
          <p:nvPr/>
        </p:nvSpPr>
        <p:spPr>
          <a:xfrm>
            <a:off x="7178040" y="1783080"/>
            <a:ext cx="4246560" cy="189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15000"/>
              </a:lnSpc>
              <a:spcAft>
                <a:spcPts val="1400"/>
              </a:spcAft>
            </a:pPr>
            <a:r>
              <a:rPr lang="en-IN" sz="1550" b="0" u="none" strike="noStrike">
                <a:solidFill>
                  <a:srgbClr val="3D4E5C"/>
                </a:solidFill>
                <a:effectLst/>
                <a:uFillTx/>
                <a:latin typeface="Arial"/>
                <a:ea typeface="DejaVu Sans"/>
              </a:rPr>
              <a:t>•  L3/L4 only  →  L3–L7 (HTTP, gRPC, Kafka, DNS)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lang="en-IN" sz="1550" b="0" u="none" strike="noStrike">
                <a:solidFill>
                  <a:srgbClr val="3D4E5C"/>
                </a:solidFill>
                <a:effectLst/>
                <a:uFillTx/>
                <a:latin typeface="Arial"/>
                <a:ea typeface="DejaVu Sans"/>
              </a:rPr>
              <a:t>•  IP/CIDR-centric  →  Identity/label-centric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lang="en-IN" sz="1550" b="0" u="none" strike="noStrike">
                <a:solidFill>
                  <a:srgbClr val="3D4E5C"/>
                </a:solidFill>
                <a:effectLst/>
                <a:uFillTx/>
                <a:latin typeface="Arial"/>
                <a:ea typeface="DejaVu Sans"/>
              </a:rPr>
              <a:t>•  iptables datapath  →  eBPF datapath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lang="en-IN" sz="1550" b="0" u="none" strike="noStrike">
                <a:solidFill>
                  <a:srgbClr val="3D4E5C"/>
                </a:solidFill>
                <a:effectLst/>
                <a:uFillTx/>
                <a:latin typeface="Arial"/>
                <a:ea typeface="DejaVu Sans"/>
              </a:rPr>
              <a:t>•  No visibility  →  Hubble flow observability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ectangle 6"/>
          <p:cNvSpPr/>
          <p:nvPr/>
        </p:nvSpPr>
        <p:spPr>
          <a:xfrm>
            <a:off x="0" y="0"/>
            <a:ext cx="12186720" cy="680400"/>
          </a:xfrm>
          <a:prstGeom prst="rect">
            <a:avLst/>
          </a:prstGeom>
          <a:gradFill rotWithShape="0">
            <a:gsLst>
              <a:gs pos="0">
                <a:srgbClr val="D83749"/>
              </a:gs>
              <a:gs pos="100000">
                <a:srgbClr val="54267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11"/>
          <p:cNvSpPr/>
          <p:nvPr/>
        </p:nvSpPr>
        <p:spPr>
          <a:xfrm>
            <a:off x="555840" y="154440"/>
            <a:ext cx="987012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What is Cilium?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"/>
          <p:cNvSpPr/>
          <p:nvPr/>
        </p:nvSpPr>
        <p:spPr>
          <a:xfrm>
            <a:off x="502920" y="54720"/>
            <a:ext cx="987012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1050" b="1" u="none" strike="noStrike">
                <a:solidFill>
                  <a:srgbClr val="FBD9DF"/>
                </a:solidFill>
                <a:effectLst/>
                <a:uFillTx/>
                <a:latin typeface="Arial"/>
                <a:ea typeface="DejaVu Sans"/>
              </a:rPr>
              <a:t>02 · </a:t>
            </a:r>
            <a:r>
              <a:rPr lang="en-IN" sz="1050" b="1" u="none" strike="noStrike">
                <a:solidFill>
                  <a:srgbClr val="FBD9DF"/>
                </a:solidFill>
                <a:effectLst/>
                <a:uFillTx/>
                <a:latin typeface="Arial"/>
                <a:ea typeface="DejaVu Sans"/>
              </a:rPr>
              <a:t>FOUN</a:t>
            </a:r>
            <a:r>
              <a:rPr lang="en-IN" sz="1050" b="1" u="none" strike="noStrike">
                <a:solidFill>
                  <a:srgbClr val="FBD9DF"/>
                </a:solidFill>
                <a:effectLst/>
                <a:uFillTx/>
                <a:latin typeface="Arial"/>
                <a:ea typeface="DejaVu Sans"/>
              </a:rPr>
              <a:t>DATIO</a:t>
            </a:r>
            <a:r>
              <a:rPr lang="en-IN" sz="1050" b="1" u="none" strike="noStrike">
                <a:solidFill>
                  <a:srgbClr val="FBD9DF"/>
                </a:solidFill>
                <a:effectLst/>
                <a:uFillTx/>
                <a:latin typeface="Arial"/>
                <a:ea typeface="DejaVu Sans"/>
              </a:rPr>
              <a:t>NS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2"/>
          <p:cNvSpPr/>
          <p:nvPr/>
        </p:nvSpPr>
        <p:spPr>
          <a:xfrm>
            <a:off x="720000" y="180000"/>
            <a:ext cx="987012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Why CiliumNetworkPolicy?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3"/>
          <p:cNvSpPr/>
          <p:nvPr/>
        </p:nvSpPr>
        <p:spPr>
          <a:xfrm>
            <a:off x="502920" y="1143000"/>
            <a:ext cx="11150280" cy="295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16000" indent="-216000">
              <a:lnSpc>
                <a:spcPct val="115000"/>
              </a:lnSpc>
              <a:spcAft>
                <a:spcPts val="20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50" b="0" u="none" strike="noStrike">
                <a:solidFill>
                  <a:srgbClr val="3D4E5C"/>
                </a:solidFill>
                <a:effectLst/>
                <a:uFillTx/>
                <a:latin typeface="Arial"/>
                <a:ea typeface="DejaVu Sans"/>
              </a:rPr>
              <a:t>Native netpols can only allow - CNP adds explicit deny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spcAft>
                <a:spcPts val="20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50" b="0" u="none" strike="noStrike">
                <a:solidFill>
                  <a:srgbClr val="3D4E5C"/>
                </a:solidFill>
                <a:effectLst/>
                <a:uFillTx/>
                <a:latin typeface="Arial"/>
                <a:ea typeface="DejaVu Sans"/>
              </a:rPr>
              <a:t>CiliumClusterwideNetworkPolicy for Cluster wide netpols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spcAft>
                <a:spcPts val="20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50" b="0" u="none" strike="noStrike">
                <a:solidFill>
                  <a:srgbClr val="3D4E5C"/>
                </a:solidFill>
                <a:effectLst/>
                <a:uFillTx/>
                <a:latin typeface="Arial"/>
                <a:ea typeface="DejaVu Sans"/>
              </a:rPr>
              <a:t>Native netpols - CIDR only, no hostnames support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spcAft>
                <a:spcPts val="20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50" b="0" u="none" strike="noStrike">
                <a:solidFill>
                  <a:srgbClr val="3D4E5C"/>
                </a:solidFill>
                <a:effectLst/>
                <a:uFillTx/>
                <a:latin typeface="Arial"/>
                <a:ea typeface="DejaVu Sans"/>
              </a:rPr>
              <a:t>DNS/L7-aware rules (toFQDNs, toServices, toEntities)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spcAft>
                <a:spcPts val="20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50" b="0" u="none" strike="noStrike">
                <a:solidFill>
                  <a:srgbClr val="3D4E5C"/>
                </a:solidFill>
                <a:effectLst/>
                <a:uFillTx/>
                <a:latin typeface="Arial"/>
                <a:ea typeface="DejaVu Sans"/>
              </a:rPr>
              <a:t>Native netpols can only reference Pods/ns via selectors, or raw CIDR blocks. CNP gives you predefined identities - world, host, cluster, kube-apiserver, remote-node.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12"/>
          <p:cNvSpPr/>
          <p:nvPr/>
        </p:nvSpPr>
        <p:spPr>
          <a:xfrm>
            <a:off x="502920" y="248040"/>
            <a:ext cx="98701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16"/>
          <p:cNvSpPr/>
          <p:nvPr/>
        </p:nvSpPr>
        <p:spPr>
          <a:xfrm>
            <a:off x="502920" y="248040"/>
            <a:ext cx="98701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17"/>
          <p:cNvSpPr/>
          <p:nvPr/>
        </p:nvSpPr>
        <p:spPr>
          <a:xfrm>
            <a:off x="502920" y="248040"/>
            <a:ext cx="98701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18"/>
          <p:cNvSpPr/>
          <p:nvPr/>
        </p:nvSpPr>
        <p:spPr>
          <a:xfrm>
            <a:off x="502920" y="248040"/>
            <a:ext cx="98701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19"/>
          <p:cNvSpPr/>
          <p:nvPr/>
        </p:nvSpPr>
        <p:spPr>
          <a:xfrm>
            <a:off x="502920" y="248040"/>
            <a:ext cx="98701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20"/>
          <p:cNvSpPr/>
          <p:nvPr/>
        </p:nvSpPr>
        <p:spPr>
          <a:xfrm>
            <a:off x="502920" y="248040"/>
            <a:ext cx="98701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21"/>
          <p:cNvSpPr/>
          <p:nvPr/>
        </p:nvSpPr>
        <p:spPr>
          <a:xfrm>
            <a:off x="744840" y="180000"/>
            <a:ext cx="98701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22"/>
          <p:cNvSpPr/>
          <p:nvPr/>
        </p:nvSpPr>
        <p:spPr>
          <a:xfrm>
            <a:off x="502920" y="248040"/>
            <a:ext cx="98701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Rectangle 9"/>
          <p:cNvSpPr/>
          <p:nvPr/>
        </p:nvSpPr>
        <p:spPr>
          <a:xfrm>
            <a:off x="360" y="0"/>
            <a:ext cx="12186720" cy="680400"/>
          </a:xfrm>
          <a:prstGeom prst="rect">
            <a:avLst/>
          </a:prstGeom>
          <a:gradFill rotWithShape="0">
            <a:gsLst>
              <a:gs pos="0">
                <a:srgbClr val="D83749"/>
              </a:gs>
              <a:gs pos="100000">
                <a:srgbClr val="54267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23"/>
          <p:cNvSpPr/>
          <p:nvPr/>
        </p:nvSpPr>
        <p:spPr>
          <a:xfrm>
            <a:off x="720000" y="181080"/>
            <a:ext cx="987012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Why CiliumNetworkPolicy?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Box 46"/>
          <p:cNvSpPr/>
          <p:nvPr/>
        </p:nvSpPr>
        <p:spPr>
          <a:xfrm>
            <a:off x="502920" y="54720"/>
            <a:ext cx="987012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1050" b="1" u="none" strike="noStrike">
                <a:solidFill>
                  <a:srgbClr val="FBD9DF"/>
                </a:solidFill>
                <a:effectLst/>
                <a:uFillTx/>
                <a:latin typeface="Arial"/>
                <a:ea typeface="DejaVu Sans"/>
              </a:rPr>
              <a:t>02 · FOUNDATIONS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47"/>
          <p:cNvSpPr/>
          <p:nvPr/>
        </p:nvSpPr>
        <p:spPr>
          <a:xfrm>
            <a:off x="720000" y="180000"/>
            <a:ext cx="987012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Why CiliumNetworkPolicy?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48"/>
          <p:cNvSpPr/>
          <p:nvPr/>
        </p:nvSpPr>
        <p:spPr>
          <a:xfrm>
            <a:off x="502920" y="1143000"/>
            <a:ext cx="11150280" cy="263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51"/>
          <p:cNvSpPr/>
          <p:nvPr/>
        </p:nvSpPr>
        <p:spPr>
          <a:xfrm>
            <a:off x="502920" y="248040"/>
            <a:ext cx="98701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52"/>
          <p:cNvSpPr/>
          <p:nvPr/>
        </p:nvSpPr>
        <p:spPr>
          <a:xfrm>
            <a:off x="502920" y="248040"/>
            <a:ext cx="98701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53"/>
          <p:cNvSpPr/>
          <p:nvPr/>
        </p:nvSpPr>
        <p:spPr>
          <a:xfrm>
            <a:off x="502920" y="248040"/>
            <a:ext cx="98701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54"/>
          <p:cNvSpPr/>
          <p:nvPr/>
        </p:nvSpPr>
        <p:spPr>
          <a:xfrm>
            <a:off x="502920" y="248040"/>
            <a:ext cx="98701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55"/>
          <p:cNvSpPr/>
          <p:nvPr/>
        </p:nvSpPr>
        <p:spPr>
          <a:xfrm>
            <a:off x="502920" y="248040"/>
            <a:ext cx="98701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56"/>
          <p:cNvSpPr/>
          <p:nvPr/>
        </p:nvSpPr>
        <p:spPr>
          <a:xfrm>
            <a:off x="502920" y="248040"/>
            <a:ext cx="98701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57"/>
          <p:cNvSpPr/>
          <p:nvPr/>
        </p:nvSpPr>
        <p:spPr>
          <a:xfrm>
            <a:off x="744840" y="180000"/>
            <a:ext cx="98701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58"/>
          <p:cNvSpPr/>
          <p:nvPr/>
        </p:nvSpPr>
        <p:spPr>
          <a:xfrm>
            <a:off x="502920" y="248040"/>
            <a:ext cx="98701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Rectangle 22"/>
          <p:cNvSpPr/>
          <p:nvPr/>
        </p:nvSpPr>
        <p:spPr>
          <a:xfrm>
            <a:off x="360" y="0"/>
            <a:ext cx="12186720" cy="680400"/>
          </a:xfrm>
          <a:prstGeom prst="rect">
            <a:avLst/>
          </a:prstGeom>
          <a:gradFill rotWithShape="0">
            <a:gsLst>
              <a:gs pos="0">
                <a:srgbClr val="D83749"/>
              </a:gs>
              <a:gs pos="100000">
                <a:srgbClr val="54267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59"/>
          <p:cNvSpPr/>
          <p:nvPr/>
        </p:nvSpPr>
        <p:spPr>
          <a:xfrm>
            <a:off x="720000" y="181080"/>
            <a:ext cx="98701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2160000" y="1062360"/>
            <a:ext cx="8703000" cy="46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apiVersion: cilium.io/v2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kind: CiliumNetworkPolicy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metadata: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name: db-access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namespace: production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spec: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endpointSelector: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matchLabels: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  app: database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ingress: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- fromEndpoints: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- matchLabels: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    role: backend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ingressDeny: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- fromEndpoints: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- matchLabels: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    role: untrusted-clientv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1440000" y="1143000"/>
            <a:ext cx="9715680" cy="521568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1980000" y="1422360"/>
            <a:ext cx="8703000" cy="46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apiVersion: cilium.io/v2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kind: CiliumNetworkPolicy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metadata: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 name: db-access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 namespace: production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spec: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 endpointSelector: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   matchLabels: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     app: database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 ingress: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 - fromEndpoints: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   - matchLabels: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       role: backend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 ingressDeny: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 - fromEndpoints: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   - matchLabels: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       role: untrusted-client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Box 1"/>
          <p:cNvSpPr/>
          <p:nvPr/>
        </p:nvSpPr>
        <p:spPr>
          <a:xfrm>
            <a:off x="502920" y="54720"/>
            <a:ext cx="987012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1050" b="1" u="none" strike="noStrike">
                <a:solidFill>
                  <a:srgbClr val="FBD9DF"/>
                </a:solidFill>
                <a:effectLst/>
                <a:uFillTx/>
                <a:latin typeface="Arial"/>
                <a:ea typeface="DejaVu Sans"/>
              </a:rPr>
              <a:t>PART TWO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2"/>
          <p:cNvSpPr/>
          <p:nvPr/>
        </p:nvSpPr>
        <p:spPr>
          <a:xfrm>
            <a:off x="502920" y="246960"/>
            <a:ext cx="987012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The Anti-Patterns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3"/>
          <p:cNvSpPr/>
          <p:nvPr/>
        </p:nvSpPr>
        <p:spPr>
          <a:xfrm>
            <a:off x="822960" y="2377440"/>
            <a:ext cx="10510200" cy="59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15000"/>
              </a:lnSpc>
            </a:pPr>
            <a:r>
              <a:rPr lang="en-IN" sz="3400" b="1" u="none" strike="noStrike">
                <a:solidFill>
                  <a:srgbClr val="0D2436"/>
                </a:solidFill>
                <a:effectLst/>
                <a:uFillTx/>
                <a:latin typeface="Arial"/>
                <a:ea typeface="DejaVu Sans"/>
              </a:rPr>
              <a:t>8 anti patterns I learned about CNP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Rectangle 10"/>
          <p:cNvSpPr/>
          <p:nvPr/>
        </p:nvSpPr>
        <p:spPr>
          <a:xfrm>
            <a:off x="0" y="0"/>
            <a:ext cx="12186720" cy="680400"/>
          </a:xfrm>
          <a:prstGeom prst="rect">
            <a:avLst/>
          </a:prstGeom>
          <a:gradFill rotWithShape="0">
            <a:gsLst>
              <a:gs pos="0">
                <a:srgbClr val="D83749"/>
              </a:gs>
              <a:gs pos="100000">
                <a:srgbClr val="54267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24"/>
          <p:cNvSpPr/>
          <p:nvPr/>
        </p:nvSpPr>
        <p:spPr>
          <a:xfrm>
            <a:off x="744840" y="180000"/>
            <a:ext cx="987012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The Anti-Patterns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Box 1"/>
          <p:cNvSpPr/>
          <p:nvPr/>
        </p:nvSpPr>
        <p:spPr>
          <a:xfrm>
            <a:off x="502920" y="54720"/>
            <a:ext cx="987012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1050" b="1" u="none" strike="noStrike">
                <a:solidFill>
                  <a:srgbClr val="FBD9DF"/>
                </a:solidFill>
                <a:effectLst/>
                <a:uFillTx/>
                <a:latin typeface="Arial"/>
                <a:ea typeface="DejaVu Sans"/>
              </a:rPr>
              <a:t>ANTI-PATTERN 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2"/>
          <p:cNvSpPr/>
          <p:nvPr/>
        </p:nvSpPr>
        <p:spPr>
          <a:xfrm>
            <a:off x="502920" y="246960"/>
            <a:ext cx="987012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toServices Instead of toEndpoints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Rectangle 3"/>
          <p:cNvSpPr/>
          <p:nvPr/>
        </p:nvSpPr>
        <p:spPr>
          <a:xfrm>
            <a:off x="502920" y="1051560"/>
            <a:ext cx="5481000" cy="324072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Rectangle 4"/>
          <p:cNvSpPr/>
          <p:nvPr/>
        </p:nvSpPr>
        <p:spPr>
          <a:xfrm>
            <a:off x="502920" y="1051560"/>
            <a:ext cx="5481000" cy="360360"/>
          </a:xfrm>
          <a:prstGeom prst="rect">
            <a:avLst/>
          </a:prstGeom>
          <a:solidFill>
            <a:srgbClr val="FCEE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5"/>
          <p:cNvSpPr/>
          <p:nvPr/>
        </p:nvSpPr>
        <p:spPr>
          <a:xfrm>
            <a:off x="640080" y="1134360"/>
            <a:ext cx="5206680" cy="1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>
              <a:lnSpc>
                <a:spcPct val="100000"/>
              </a:lnSpc>
            </a:pPr>
            <a:r>
              <a:rPr lang="en-IN" sz="1300" b="1" u="none" strike="noStrike">
                <a:solidFill>
                  <a:srgbClr val="C02B2B"/>
                </a:solidFill>
                <a:effectLst/>
                <a:uFillTx/>
                <a:latin typeface="Arial"/>
                <a:ea typeface="DejaVu Sans"/>
              </a:rPr>
              <a:t>✗  WRONG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6"/>
          <p:cNvSpPr/>
          <p:nvPr/>
        </p:nvSpPr>
        <p:spPr>
          <a:xfrm>
            <a:off x="667440" y="1527120"/>
            <a:ext cx="5151960" cy="26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egress: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- toServices: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    - k8sService: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        serviceName: my-database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        namespace: my-namespace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  toPorts: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    - ports: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        - port: "5432"   # Service port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# Service exposes 5432, Pod (pgbouncer)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# listens on 6432 -- after DNAT the dest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# port is 6432, so this never matches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Rectangle 7"/>
          <p:cNvSpPr/>
          <p:nvPr/>
        </p:nvSpPr>
        <p:spPr>
          <a:xfrm>
            <a:off x="6263640" y="1051560"/>
            <a:ext cx="5481000" cy="324072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Rectangle 8"/>
          <p:cNvSpPr/>
          <p:nvPr/>
        </p:nvSpPr>
        <p:spPr>
          <a:xfrm>
            <a:off x="6263640" y="1051560"/>
            <a:ext cx="5481000" cy="360360"/>
          </a:xfrm>
          <a:prstGeom prst="rect">
            <a:avLst/>
          </a:prstGeom>
          <a:solidFill>
            <a:srgbClr val="EAF7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9"/>
          <p:cNvSpPr/>
          <p:nvPr/>
        </p:nvSpPr>
        <p:spPr>
          <a:xfrm>
            <a:off x="6400800" y="1134360"/>
            <a:ext cx="5206680" cy="1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>
              <a:lnSpc>
                <a:spcPct val="100000"/>
              </a:lnSpc>
            </a:pPr>
            <a:r>
              <a:rPr lang="en-IN" sz="1300" b="1" u="none" strike="noStrike">
                <a:solidFill>
                  <a:srgbClr val="1E8E3E"/>
                </a:solidFill>
                <a:effectLst/>
                <a:uFillTx/>
                <a:latin typeface="Arial"/>
                <a:ea typeface="DejaVu Sans"/>
              </a:rPr>
              <a:t>✓  CORRECT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10"/>
          <p:cNvSpPr/>
          <p:nvPr/>
        </p:nvSpPr>
        <p:spPr>
          <a:xfrm>
            <a:off x="6428160" y="1527120"/>
            <a:ext cx="5151960" cy="26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egress: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- toServices: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    - k8sService: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        serviceName: my-database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        namespace: my-namespace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  toPorts: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    - ports: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        - port: "80"   # Pod targetPort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# after DNAT, the packet's destination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# port IS the Pod's targetPort -- write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# that here, not the Service port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Rectangle 11"/>
          <p:cNvSpPr/>
          <p:nvPr/>
        </p:nvSpPr>
        <p:spPr>
          <a:xfrm>
            <a:off x="502920" y="4526280"/>
            <a:ext cx="11196000" cy="1000440"/>
          </a:xfrm>
          <a:prstGeom prst="rect">
            <a:avLst/>
          </a:prstGeom>
          <a:solidFill>
            <a:srgbClr val="FCEA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Rectangle 12"/>
          <p:cNvSpPr/>
          <p:nvPr/>
        </p:nvSpPr>
        <p:spPr>
          <a:xfrm>
            <a:off x="502920" y="4526280"/>
            <a:ext cx="45360" cy="1000440"/>
          </a:xfrm>
          <a:prstGeom prst="rect">
            <a:avLst/>
          </a:prstGeom>
          <a:solidFill>
            <a:srgbClr val="D8374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13"/>
          <p:cNvSpPr/>
          <p:nvPr/>
        </p:nvSpPr>
        <p:spPr>
          <a:xfrm>
            <a:off x="685800" y="4796280"/>
            <a:ext cx="10830240" cy="46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>
              <a:lnSpc>
                <a:spcPct val="105000"/>
              </a:lnSpc>
            </a:pPr>
            <a:r>
              <a:rPr lang="en-IN" sz="1450" b="0" u="none" strike="noStrike">
                <a:solidFill>
                  <a:srgbClr val="0D2436"/>
                </a:solidFill>
                <a:effectLst/>
                <a:uFillTx/>
                <a:latin typeface="Arial"/>
                <a:ea typeface="DejaVu Sans"/>
              </a:rPr>
              <a:t>toPorts has to match the backend Pod's real targetPort, not the Service's exposed port -- after DNAT, the packet's destination port already is the Pod's port.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Rectangle 14"/>
          <p:cNvSpPr/>
          <p:nvPr/>
        </p:nvSpPr>
        <p:spPr>
          <a:xfrm>
            <a:off x="0" y="0"/>
            <a:ext cx="12186720" cy="680400"/>
          </a:xfrm>
          <a:prstGeom prst="rect">
            <a:avLst/>
          </a:prstGeom>
          <a:gradFill rotWithShape="0">
            <a:gsLst>
              <a:gs pos="0">
                <a:srgbClr val="D83749"/>
              </a:gs>
              <a:gs pos="100000">
                <a:srgbClr val="54267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27"/>
          <p:cNvSpPr/>
          <p:nvPr/>
        </p:nvSpPr>
        <p:spPr>
          <a:xfrm>
            <a:off x="502920" y="55800"/>
            <a:ext cx="987012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1050" b="1" u="none" strike="noStrike">
                <a:solidFill>
                  <a:srgbClr val="FBD9DF"/>
                </a:solidFill>
                <a:effectLst/>
                <a:uFillTx/>
                <a:latin typeface="Arial"/>
                <a:ea typeface="DejaVu Sans"/>
              </a:rPr>
              <a:t>ANTI-PATTERN 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28"/>
          <p:cNvSpPr/>
          <p:nvPr/>
        </p:nvSpPr>
        <p:spPr>
          <a:xfrm>
            <a:off x="502920" y="248040"/>
            <a:ext cx="987012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toSe</a:t>
            </a:r>
            <a:r>
              <a:rPr lang="en-IN" sz="2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rvic</a:t>
            </a:r>
            <a:r>
              <a:rPr lang="en-IN" sz="2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es </a:t>
            </a:r>
            <a:r>
              <a:rPr lang="en-IN" sz="2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Sele</a:t>
            </a:r>
            <a:r>
              <a:rPr lang="en-IN" sz="2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ctor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Box 49"/>
          <p:cNvSpPr/>
          <p:nvPr/>
        </p:nvSpPr>
        <p:spPr>
          <a:xfrm>
            <a:off x="502920" y="54720"/>
            <a:ext cx="987012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1050" b="1" u="none" strike="noStrike">
                <a:solidFill>
                  <a:srgbClr val="FBD9DF"/>
                </a:solidFill>
                <a:effectLst/>
                <a:uFillTx/>
                <a:latin typeface="Arial"/>
                <a:ea typeface="DejaVu Sans"/>
              </a:rPr>
              <a:t>ANTI-PATTERN 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60"/>
          <p:cNvSpPr/>
          <p:nvPr/>
        </p:nvSpPr>
        <p:spPr>
          <a:xfrm>
            <a:off x="502920" y="246960"/>
            <a:ext cx="987012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toServices Instead of toEndpoints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Rectangle 30"/>
          <p:cNvSpPr/>
          <p:nvPr/>
        </p:nvSpPr>
        <p:spPr>
          <a:xfrm>
            <a:off x="0" y="0"/>
            <a:ext cx="12186720" cy="680400"/>
          </a:xfrm>
          <a:prstGeom prst="rect">
            <a:avLst/>
          </a:prstGeom>
          <a:gradFill rotWithShape="0">
            <a:gsLst>
              <a:gs pos="0">
                <a:srgbClr val="D83749"/>
              </a:gs>
              <a:gs pos="100000">
                <a:srgbClr val="54267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68"/>
          <p:cNvSpPr/>
          <p:nvPr/>
        </p:nvSpPr>
        <p:spPr>
          <a:xfrm>
            <a:off x="502920" y="55800"/>
            <a:ext cx="987012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1050" b="1" u="none" strike="noStrike">
                <a:solidFill>
                  <a:srgbClr val="FBD9DF"/>
                </a:solidFill>
                <a:effectLst/>
                <a:uFillTx/>
                <a:latin typeface="Arial"/>
                <a:ea typeface="DejaVu Sans"/>
              </a:rPr>
              <a:t>ANTI-PATTERN 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69"/>
          <p:cNvSpPr/>
          <p:nvPr/>
        </p:nvSpPr>
        <p:spPr>
          <a:xfrm>
            <a:off x="502920" y="248040"/>
            <a:ext cx="987012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toServices Selector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5" name=""/>
          <p:cNvPicPr/>
          <p:nvPr/>
        </p:nvPicPr>
        <p:blipFill>
          <a:blip r:embed="rId1"/>
          <a:stretch/>
        </p:blipFill>
        <p:spPr>
          <a:xfrm>
            <a:off x="1620000" y="792720"/>
            <a:ext cx="8662680" cy="5683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Rectangle 1"/>
          <p:cNvSpPr/>
          <p:nvPr/>
        </p:nvSpPr>
        <p:spPr>
          <a:xfrm>
            <a:off x="0" y="0"/>
            <a:ext cx="12188160" cy="681840"/>
          </a:xfrm>
          <a:prstGeom prst="rect">
            <a:avLst/>
          </a:prstGeom>
          <a:gradFill rotWithShape="0">
            <a:gsLst>
              <a:gs pos="0">
                <a:srgbClr val="D83749"/>
              </a:gs>
              <a:gs pos="100000">
                <a:srgbClr val="54267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2"/>
          <p:cNvSpPr/>
          <p:nvPr/>
        </p:nvSpPr>
        <p:spPr>
          <a:xfrm>
            <a:off x="502920" y="54720"/>
            <a:ext cx="987156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1050" b="1" u="none" strike="noStrike">
                <a:solidFill>
                  <a:srgbClr val="FBD9DF"/>
                </a:solidFill>
                <a:effectLst/>
                <a:uFillTx/>
                <a:latin typeface="Arial"/>
                <a:ea typeface="DejaVu Sans"/>
              </a:rPr>
              <a:t>ANTI-PATTERN 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3"/>
          <p:cNvSpPr/>
          <p:nvPr/>
        </p:nvSpPr>
        <p:spPr>
          <a:xfrm>
            <a:off x="502920" y="246960"/>
            <a:ext cx="987156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toEndpoints vs ToServices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Rectangle 4"/>
          <p:cNvSpPr/>
          <p:nvPr/>
        </p:nvSpPr>
        <p:spPr>
          <a:xfrm>
            <a:off x="502920" y="1051560"/>
            <a:ext cx="5482440" cy="324216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Rectangle 5"/>
          <p:cNvSpPr/>
          <p:nvPr/>
        </p:nvSpPr>
        <p:spPr>
          <a:xfrm>
            <a:off x="502920" y="1051560"/>
            <a:ext cx="5482440" cy="361800"/>
          </a:xfrm>
          <a:prstGeom prst="rect">
            <a:avLst/>
          </a:prstGeom>
          <a:solidFill>
            <a:srgbClr val="FCEE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6"/>
          <p:cNvSpPr/>
          <p:nvPr/>
        </p:nvSpPr>
        <p:spPr>
          <a:xfrm>
            <a:off x="640080" y="1134720"/>
            <a:ext cx="5208120" cy="1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>
              <a:lnSpc>
                <a:spcPct val="100000"/>
              </a:lnSpc>
            </a:pPr>
            <a:r>
              <a:rPr lang="en-IN" sz="1300" b="1" u="none" strike="noStrike">
                <a:solidFill>
                  <a:srgbClr val="C02B2B"/>
                </a:solidFill>
                <a:effectLst/>
                <a:uFillTx/>
                <a:latin typeface="Arial"/>
                <a:ea typeface="DejaVu Sans"/>
              </a:rPr>
              <a:t>✗  WRONG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7"/>
          <p:cNvSpPr/>
          <p:nvPr/>
        </p:nvSpPr>
        <p:spPr>
          <a:xfrm>
            <a:off x="667440" y="1527120"/>
            <a:ext cx="5153400" cy="26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egress: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- toServices: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    - k8sService: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        ServiceName: {{ .Release.name }}-pg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        namespace: my-namespace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  toPorts: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    - ports: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        - port: "5432"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# Service name is templated per Helm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# release -- rename/reinstall, and this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# rule silently stops matching anything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Rectangle 8"/>
          <p:cNvSpPr/>
          <p:nvPr/>
        </p:nvSpPr>
        <p:spPr>
          <a:xfrm>
            <a:off x="6263640" y="1051560"/>
            <a:ext cx="5482440" cy="324216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Rectangle 9"/>
          <p:cNvSpPr/>
          <p:nvPr/>
        </p:nvSpPr>
        <p:spPr>
          <a:xfrm>
            <a:off x="6263640" y="1051560"/>
            <a:ext cx="5482440" cy="361800"/>
          </a:xfrm>
          <a:prstGeom prst="rect">
            <a:avLst/>
          </a:prstGeom>
          <a:solidFill>
            <a:srgbClr val="EAF7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10"/>
          <p:cNvSpPr/>
          <p:nvPr/>
        </p:nvSpPr>
        <p:spPr>
          <a:xfrm>
            <a:off x="6400800" y="1134720"/>
            <a:ext cx="5208120" cy="1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>
              <a:lnSpc>
                <a:spcPct val="100000"/>
              </a:lnSpc>
            </a:pPr>
            <a:r>
              <a:rPr lang="en-IN" sz="1300" b="1" u="none" strike="noStrike">
                <a:solidFill>
                  <a:srgbClr val="1E8E3E"/>
                </a:solidFill>
                <a:effectLst/>
                <a:uFillTx/>
                <a:latin typeface="Arial"/>
                <a:ea typeface="DejaVu Sans"/>
              </a:rPr>
              <a:t>✓  CORRECT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11"/>
          <p:cNvSpPr/>
          <p:nvPr/>
        </p:nvSpPr>
        <p:spPr>
          <a:xfrm>
            <a:off x="6428160" y="1527120"/>
            <a:ext cx="5153400" cy="26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egress: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- toEndpoints: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    - matchLabels: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        cnpg.io/cluster: oncall-pgsql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        k8s:io.kubernetes.pod.namespace: \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          my-namespace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  toPorts: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    - ports: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        - port: "5432"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# operator-set label -- stable across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# releases, no Service/DNAT layer at all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Rectangle 12"/>
          <p:cNvSpPr/>
          <p:nvPr/>
        </p:nvSpPr>
        <p:spPr>
          <a:xfrm>
            <a:off x="502920" y="4526280"/>
            <a:ext cx="11197440" cy="1001880"/>
          </a:xfrm>
          <a:prstGeom prst="rect">
            <a:avLst/>
          </a:prstGeom>
          <a:solidFill>
            <a:srgbClr val="FCEA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Rectangle 13"/>
          <p:cNvSpPr/>
          <p:nvPr/>
        </p:nvSpPr>
        <p:spPr>
          <a:xfrm>
            <a:off x="502920" y="4526280"/>
            <a:ext cx="46800" cy="1001880"/>
          </a:xfrm>
          <a:prstGeom prst="rect">
            <a:avLst/>
          </a:prstGeom>
          <a:solidFill>
            <a:srgbClr val="D8374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14"/>
          <p:cNvSpPr/>
          <p:nvPr/>
        </p:nvSpPr>
        <p:spPr>
          <a:xfrm>
            <a:off x="685800" y="4521240"/>
            <a:ext cx="10831680" cy="101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>
              <a:lnSpc>
                <a:spcPct val="115000"/>
              </a:lnSpc>
            </a:pPr>
            <a:r>
              <a:rPr lang="en-IN" sz="1450" b="0" u="none" strike="noStrike">
                <a:solidFill>
                  <a:srgbClr val="0D2436"/>
                </a:solidFill>
                <a:effectLst/>
                <a:uFillTx/>
                <a:latin typeface="Arial"/>
                <a:ea typeface="DejaVu Sans"/>
              </a:rPr>
              <a:t>toServices ties your policy to whatever the Service happens to be named right now -- Helm-templated names change on release rename or reinstall, silently breaking the rule. Even when the name holds steady, you're still exposed to toServices' toPorts quirks (the previous slide). toEndpoints on a stable, operator-set label sidesteps both: the label doesn't move, and there's no Service/DNAT layer to get confused about.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extBox 1"/>
          <p:cNvSpPr/>
          <p:nvPr/>
        </p:nvSpPr>
        <p:spPr>
          <a:xfrm>
            <a:off x="502920" y="54720"/>
            <a:ext cx="987012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1050" b="1" u="none" strike="noStrike">
                <a:solidFill>
                  <a:srgbClr val="FBD9DF"/>
                </a:solidFill>
                <a:effectLst/>
                <a:uFillTx/>
                <a:latin typeface="Arial"/>
                <a:ea typeface="DejaVu Sans"/>
              </a:rPr>
              <a:t>ANTI-PATTERN 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2"/>
          <p:cNvSpPr/>
          <p:nvPr/>
        </p:nvSpPr>
        <p:spPr>
          <a:xfrm>
            <a:off x="502920" y="246960"/>
            <a:ext cx="987012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Selecting on Unique-per-Pod Labels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Rectangle 3"/>
          <p:cNvSpPr/>
          <p:nvPr/>
        </p:nvSpPr>
        <p:spPr>
          <a:xfrm>
            <a:off x="502920" y="1051560"/>
            <a:ext cx="5481000" cy="324072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Rectangle 4"/>
          <p:cNvSpPr/>
          <p:nvPr/>
        </p:nvSpPr>
        <p:spPr>
          <a:xfrm>
            <a:off x="502920" y="1051560"/>
            <a:ext cx="5481000" cy="360360"/>
          </a:xfrm>
          <a:prstGeom prst="rect">
            <a:avLst/>
          </a:prstGeom>
          <a:solidFill>
            <a:srgbClr val="FCEE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5"/>
          <p:cNvSpPr/>
          <p:nvPr/>
        </p:nvSpPr>
        <p:spPr>
          <a:xfrm>
            <a:off x="640080" y="1134360"/>
            <a:ext cx="5206680" cy="1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>
              <a:lnSpc>
                <a:spcPct val="100000"/>
              </a:lnSpc>
            </a:pPr>
            <a:r>
              <a:rPr lang="en-IN" sz="1300" b="1" u="none" strike="noStrike">
                <a:solidFill>
                  <a:srgbClr val="C02B2B"/>
                </a:solidFill>
                <a:effectLst/>
                <a:uFillTx/>
                <a:latin typeface="Arial"/>
                <a:ea typeface="DejaVu Sans"/>
              </a:rPr>
              <a:t>✗  WRONG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6"/>
          <p:cNvSpPr/>
          <p:nvPr/>
        </p:nvSpPr>
        <p:spPr>
          <a:xfrm>
            <a:off x="667440" y="1527120"/>
            <a:ext cx="5151960" cy="181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endpointSelector: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matchLabels: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  statefulset.kubernetes.io/pod-name: \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    oncall-pgsql-1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# Cilium excludes this label from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# identity calculation entirely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# selector matches NOTHING, silently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Rectangle 7"/>
          <p:cNvSpPr/>
          <p:nvPr/>
        </p:nvSpPr>
        <p:spPr>
          <a:xfrm>
            <a:off x="6263640" y="1051560"/>
            <a:ext cx="5481000" cy="324072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Rectangle 8"/>
          <p:cNvSpPr/>
          <p:nvPr/>
        </p:nvSpPr>
        <p:spPr>
          <a:xfrm>
            <a:off x="6263640" y="1051560"/>
            <a:ext cx="5481000" cy="360360"/>
          </a:xfrm>
          <a:prstGeom prst="rect">
            <a:avLst/>
          </a:prstGeom>
          <a:solidFill>
            <a:srgbClr val="EAF7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9"/>
          <p:cNvSpPr/>
          <p:nvPr/>
        </p:nvSpPr>
        <p:spPr>
          <a:xfrm>
            <a:off x="6400800" y="1134360"/>
            <a:ext cx="5206680" cy="1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>
              <a:lnSpc>
                <a:spcPct val="100000"/>
              </a:lnSpc>
            </a:pPr>
            <a:r>
              <a:rPr lang="en-IN" sz="1300" b="1" u="none" strike="noStrike">
                <a:solidFill>
                  <a:srgbClr val="1E8E3E"/>
                </a:solidFill>
                <a:effectLst/>
                <a:uFillTx/>
                <a:latin typeface="Arial"/>
                <a:ea typeface="DejaVu Sans"/>
              </a:rPr>
              <a:t>✓  CORRECT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10"/>
          <p:cNvSpPr/>
          <p:nvPr/>
        </p:nvSpPr>
        <p:spPr>
          <a:xfrm>
            <a:off x="6428160" y="1527120"/>
            <a:ext cx="5151960" cy="181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endpointSelector: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matchLabels: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  cnpg.io/cluster: oncall-pgsql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  k8s:io.kubernetes.pod.namespace: \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    my-namespace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# shared label across all replicas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# -&gt; one stable security identity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Rectangle 11"/>
          <p:cNvSpPr/>
          <p:nvPr/>
        </p:nvSpPr>
        <p:spPr>
          <a:xfrm>
            <a:off x="502920" y="4526280"/>
            <a:ext cx="8641080" cy="1000440"/>
          </a:xfrm>
          <a:prstGeom prst="rect">
            <a:avLst/>
          </a:prstGeom>
          <a:solidFill>
            <a:srgbClr val="FCEA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Rectangle 12"/>
          <p:cNvSpPr/>
          <p:nvPr/>
        </p:nvSpPr>
        <p:spPr>
          <a:xfrm>
            <a:off x="502920" y="4526280"/>
            <a:ext cx="45360" cy="1000440"/>
          </a:xfrm>
          <a:prstGeom prst="rect">
            <a:avLst/>
          </a:prstGeom>
          <a:solidFill>
            <a:srgbClr val="D8374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13"/>
          <p:cNvSpPr/>
          <p:nvPr/>
        </p:nvSpPr>
        <p:spPr>
          <a:xfrm>
            <a:off x="685800" y="4773600"/>
            <a:ext cx="8229600" cy="50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>
              <a:lnSpc>
                <a:spcPct val="115000"/>
              </a:lnSpc>
            </a:pPr>
            <a:r>
              <a:rPr lang="en-IN" sz="1450" b="0" u="none" strike="noStrike">
                <a:solidFill>
                  <a:srgbClr val="0D2436"/>
                </a:solidFill>
                <a:effectLst/>
                <a:uFillTx/>
                <a:latin typeface="Arial"/>
                <a:ea typeface="DejaVu Sans"/>
              </a:rPr>
              <a:t>Cilium maintains a list of label patterns excluded from identity calculation (to avoid identity churn). Per Pod unique or per deployment revision unique labels are in that exclusion list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15"/>
          <p:cNvSpPr/>
          <p:nvPr/>
        </p:nvSpPr>
        <p:spPr>
          <a:xfrm>
            <a:off x="11155680" y="6473880"/>
            <a:ext cx="63468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en-IN" sz="1050" b="0" u="none" strike="noStrike">
                <a:solidFill>
                  <a:srgbClr val="3D4E5C"/>
                </a:solidFill>
                <a:effectLst/>
                <a:uFillTx/>
                <a:latin typeface="Arial"/>
                <a:ea typeface="DejaVu Sans"/>
              </a:rPr>
              <a:t>10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Rectangle 16"/>
          <p:cNvSpPr/>
          <p:nvPr/>
        </p:nvSpPr>
        <p:spPr>
          <a:xfrm>
            <a:off x="0" y="0"/>
            <a:ext cx="12186720" cy="680400"/>
          </a:xfrm>
          <a:prstGeom prst="rect">
            <a:avLst/>
          </a:prstGeom>
          <a:gradFill rotWithShape="0">
            <a:gsLst>
              <a:gs pos="0">
                <a:srgbClr val="D83749"/>
              </a:gs>
              <a:gs pos="100000">
                <a:srgbClr val="54267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31"/>
          <p:cNvSpPr/>
          <p:nvPr/>
        </p:nvSpPr>
        <p:spPr>
          <a:xfrm>
            <a:off x="502920" y="56520"/>
            <a:ext cx="987012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1050" b="1" u="none" strike="noStrike">
                <a:solidFill>
                  <a:srgbClr val="FBD9DF"/>
                </a:solidFill>
                <a:effectLst/>
                <a:uFillTx/>
                <a:latin typeface="Arial"/>
                <a:ea typeface="DejaVu Sans"/>
              </a:rPr>
              <a:t>ANTI-PATTERN 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32"/>
          <p:cNvSpPr/>
          <p:nvPr/>
        </p:nvSpPr>
        <p:spPr>
          <a:xfrm>
            <a:off x="502920" y="248760"/>
            <a:ext cx="987012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Unique-per-Pod Labels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7" name=""/>
          <p:cNvPicPr/>
          <p:nvPr/>
        </p:nvPicPr>
        <p:blipFill>
          <a:blip r:embed="rId1"/>
          <a:stretch/>
        </p:blipFill>
        <p:spPr>
          <a:xfrm>
            <a:off x="9372600" y="4118760"/>
            <a:ext cx="2514600" cy="2514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extBox 1"/>
          <p:cNvSpPr/>
          <p:nvPr/>
        </p:nvSpPr>
        <p:spPr>
          <a:xfrm>
            <a:off x="502920" y="54720"/>
            <a:ext cx="987012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1050" b="1" u="none" strike="noStrike">
                <a:solidFill>
                  <a:srgbClr val="FBD9DF"/>
                </a:solidFill>
                <a:effectLst/>
                <a:uFillTx/>
                <a:latin typeface="Arial"/>
                <a:ea typeface="DejaVu Sans"/>
              </a:rPr>
              <a:t>ANTI-PATTERN 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2"/>
          <p:cNvSpPr/>
          <p:nvPr/>
        </p:nvSpPr>
        <p:spPr>
          <a:xfrm>
            <a:off x="502920" y="246960"/>
            <a:ext cx="987012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toFQDNs Without a DNS Proxy Rule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Rectangle 3"/>
          <p:cNvSpPr/>
          <p:nvPr/>
        </p:nvSpPr>
        <p:spPr>
          <a:xfrm>
            <a:off x="502920" y="1051560"/>
            <a:ext cx="5481000" cy="324072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Rectangle 4"/>
          <p:cNvSpPr/>
          <p:nvPr/>
        </p:nvSpPr>
        <p:spPr>
          <a:xfrm>
            <a:off x="502920" y="1051560"/>
            <a:ext cx="5481000" cy="360360"/>
          </a:xfrm>
          <a:prstGeom prst="rect">
            <a:avLst/>
          </a:prstGeom>
          <a:solidFill>
            <a:srgbClr val="FCEE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5"/>
          <p:cNvSpPr/>
          <p:nvPr/>
        </p:nvSpPr>
        <p:spPr>
          <a:xfrm>
            <a:off x="640080" y="1134360"/>
            <a:ext cx="5206680" cy="1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>
              <a:lnSpc>
                <a:spcPct val="100000"/>
              </a:lnSpc>
            </a:pPr>
            <a:r>
              <a:rPr lang="en-IN" sz="1300" b="1" u="none" strike="noStrike">
                <a:solidFill>
                  <a:srgbClr val="C02B2B"/>
                </a:solidFill>
                <a:effectLst/>
                <a:uFillTx/>
                <a:latin typeface="Arial"/>
                <a:ea typeface="DejaVu Sans"/>
              </a:rPr>
              <a:t>✗  WRONG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6"/>
          <p:cNvSpPr/>
          <p:nvPr/>
        </p:nvSpPr>
        <p:spPr>
          <a:xfrm>
            <a:off x="667440" y="1527120"/>
            <a:ext cx="5151960" cy="20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egress: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- toFQDNs: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    - matchName: example.com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  toPorts: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    - ports: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        - port: "443"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# no rules.dns on THIS pod's policy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# → proxy interception never turns 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Rectangle 7"/>
          <p:cNvSpPr/>
          <p:nvPr/>
        </p:nvSpPr>
        <p:spPr>
          <a:xfrm>
            <a:off x="6263640" y="1051560"/>
            <a:ext cx="5481000" cy="324072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Rectangle 8"/>
          <p:cNvSpPr/>
          <p:nvPr/>
        </p:nvSpPr>
        <p:spPr>
          <a:xfrm>
            <a:off x="6263640" y="1051560"/>
            <a:ext cx="5481000" cy="360360"/>
          </a:xfrm>
          <a:prstGeom prst="rect">
            <a:avLst/>
          </a:prstGeom>
          <a:solidFill>
            <a:srgbClr val="EAF7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9"/>
          <p:cNvSpPr/>
          <p:nvPr/>
        </p:nvSpPr>
        <p:spPr>
          <a:xfrm>
            <a:off x="6400800" y="1134360"/>
            <a:ext cx="5206680" cy="1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>
              <a:lnSpc>
                <a:spcPct val="100000"/>
              </a:lnSpc>
            </a:pPr>
            <a:r>
              <a:rPr lang="en-IN" sz="1300" b="1" u="none" strike="noStrike">
                <a:solidFill>
                  <a:srgbClr val="1E8E3E"/>
                </a:solidFill>
                <a:effectLst/>
                <a:uFillTx/>
                <a:latin typeface="Arial"/>
                <a:ea typeface="DejaVu Sans"/>
              </a:rPr>
              <a:t>✓  CORRECT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10"/>
          <p:cNvSpPr/>
          <p:nvPr/>
        </p:nvSpPr>
        <p:spPr>
          <a:xfrm>
            <a:off x="6428160" y="1527120"/>
            <a:ext cx="5151960" cy="20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egress: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- toEndpoints: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    - matchLabels: {k8s-app: kube-dns}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  toPorts: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    - ports: [{port: "53", protocol: ANY}]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      rules: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        dns: [{matchPattern: "*"}]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- toFQDNs: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    - matchName: example.com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Rectangle 11"/>
          <p:cNvSpPr/>
          <p:nvPr/>
        </p:nvSpPr>
        <p:spPr>
          <a:xfrm>
            <a:off x="502920" y="4526280"/>
            <a:ext cx="11196000" cy="1000440"/>
          </a:xfrm>
          <a:prstGeom prst="rect">
            <a:avLst/>
          </a:prstGeom>
          <a:solidFill>
            <a:srgbClr val="FCEA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Rectangle 12"/>
          <p:cNvSpPr/>
          <p:nvPr/>
        </p:nvSpPr>
        <p:spPr>
          <a:xfrm>
            <a:off x="502920" y="4526280"/>
            <a:ext cx="45360" cy="1000440"/>
          </a:xfrm>
          <a:prstGeom prst="rect">
            <a:avLst/>
          </a:prstGeom>
          <a:solidFill>
            <a:srgbClr val="D8374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13"/>
          <p:cNvSpPr/>
          <p:nvPr/>
        </p:nvSpPr>
        <p:spPr>
          <a:xfrm>
            <a:off x="685800" y="4774320"/>
            <a:ext cx="1083024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>
              <a:lnSpc>
                <a:spcPct val="115000"/>
              </a:lnSpc>
            </a:pPr>
            <a:r>
              <a:rPr lang="en-IN" sz="1450" b="0" u="none" strike="noStrike">
                <a:solidFill>
                  <a:srgbClr val="0D2436"/>
                </a:solidFill>
                <a:effectLst/>
                <a:uFillTx/>
                <a:latin typeface="Arial"/>
                <a:ea typeface="DejaVu Sans"/>
              </a:rPr>
              <a:t>DNS proxy activation is per-endpoint. A default-deny policy's DNS rule doesn't activate it for this pod. Without it, IP↔FQDN mapping never lands in this pod's cache.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Rectangle 17"/>
          <p:cNvSpPr/>
          <p:nvPr/>
        </p:nvSpPr>
        <p:spPr>
          <a:xfrm>
            <a:off x="0" y="0"/>
            <a:ext cx="12186720" cy="680400"/>
          </a:xfrm>
          <a:prstGeom prst="rect">
            <a:avLst/>
          </a:prstGeom>
          <a:gradFill rotWithShape="0">
            <a:gsLst>
              <a:gs pos="0">
                <a:srgbClr val="D83749"/>
              </a:gs>
              <a:gs pos="100000">
                <a:srgbClr val="54267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33"/>
          <p:cNvSpPr/>
          <p:nvPr/>
        </p:nvSpPr>
        <p:spPr>
          <a:xfrm>
            <a:off x="502920" y="56520"/>
            <a:ext cx="987012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1050" b="1" u="none" strike="noStrike">
                <a:solidFill>
                  <a:srgbClr val="FBD9DF"/>
                </a:solidFill>
                <a:effectLst/>
                <a:uFillTx/>
                <a:latin typeface="Arial"/>
                <a:ea typeface="DejaVu Sans"/>
              </a:rPr>
              <a:t>ANTI-PATTERN 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34"/>
          <p:cNvSpPr/>
          <p:nvPr/>
        </p:nvSpPr>
        <p:spPr>
          <a:xfrm>
            <a:off x="502920" y="248760"/>
            <a:ext cx="987012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toFQDNS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TextBox 64"/>
          <p:cNvSpPr/>
          <p:nvPr/>
        </p:nvSpPr>
        <p:spPr>
          <a:xfrm>
            <a:off x="502920" y="54720"/>
            <a:ext cx="987012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1050" b="1" u="none" strike="noStrike">
                <a:solidFill>
                  <a:srgbClr val="FBD9DF"/>
                </a:solidFill>
                <a:effectLst/>
                <a:uFillTx/>
                <a:latin typeface="Arial"/>
                <a:ea typeface="DejaVu Sans"/>
              </a:rPr>
              <a:t>ANTI-PATTERN 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65"/>
          <p:cNvSpPr/>
          <p:nvPr/>
        </p:nvSpPr>
        <p:spPr>
          <a:xfrm>
            <a:off x="502920" y="246960"/>
            <a:ext cx="987012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toFQDNs Without a DNS Proxy Rule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Rectangle 36"/>
          <p:cNvSpPr/>
          <p:nvPr/>
        </p:nvSpPr>
        <p:spPr>
          <a:xfrm>
            <a:off x="0" y="0"/>
            <a:ext cx="12186720" cy="680400"/>
          </a:xfrm>
          <a:prstGeom prst="rect">
            <a:avLst/>
          </a:prstGeom>
          <a:gradFill rotWithShape="0">
            <a:gsLst>
              <a:gs pos="0">
                <a:srgbClr val="D83749"/>
              </a:gs>
              <a:gs pos="100000">
                <a:srgbClr val="54267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82"/>
          <p:cNvSpPr/>
          <p:nvPr/>
        </p:nvSpPr>
        <p:spPr>
          <a:xfrm>
            <a:off x="502920" y="56520"/>
            <a:ext cx="987012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1050" b="1" u="none" strike="noStrike">
                <a:solidFill>
                  <a:srgbClr val="FBD9DF"/>
                </a:solidFill>
                <a:effectLst/>
                <a:uFillTx/>
                <a:latin typeface="Arial"/>
                <a:ea typeface="DejaVu Sans"/>
              </a:rPr>
              <a:t>ANTI-</a:t>
            </a:r>
            <a:r>
              <a:rPr lang="en-IN" sz="1050" b="1" u="none" strike="noStrike">
                <a:solidFill>
                  <a:srgbClr val="FBD9DF"/>
                </a:solidFill>
                <a:effectLst/>
                <a:uFillTx/>
                <a:latin typeface="Arial"/>
                <a:ea typeface="DejaVu Sans"/>
              </a:rPr>
              <a:t>PATTE</a:t>
            </a:r>
            <a:r>
              <a:rPr lang="en-IN" sz="1050" b="1" u="none" strike="noStrike">
                <a:solidFill>
                  <a:srgbClr val="FBD9DF"/>
                </a:solidFill>
                <a:effectLst/>
                <a:uFillTx/>
                <a:latin typeface="Arial"/>
                <a:ea typeface="DejaVu Sans"/>
              </a:rPr>
              <a:t>RN 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84"/>
          <p:cNvSpPr/>
          <p:nvPr/>
        </p:nvSpPr>
        <p:spPr>
          <a:xfrm>
            <a:off x="502920" y="248760"/>
            <a:ext cx="987012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toFQDNS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9" name=""/>
          <p:cNvPicPr/>
          <p:nvPr/>
        </p:nvPicPr>
        <p:blipFill>
          <a:blip r:embed="rId1"/>
          <a:stretch/>
        </p:blipFill>
        <p:spPr>
          <a:xfrm>
            <a:off x="457200" y="958320"/>
            <a:ext cx="11310120" cy="5442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extBox 29"/>
          <p:cNvSpPr/>
          <p:nvPr/>
        </p:nvSpPr>
        <p:spPr>
          <a:xfrm>
            <a:off x="502920" y="54720"/>
            <a:ext cx="987012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1050" b="1" u="none" strike="noStrike">
                <a:solidFill>
                  <a:srgbClr val="FBD9DF"/>
                </a:solidFill>
                <a:effectLst/>
                <a:uFillTx/>
                <a:latin typeface="Arial"/>
                <a:ea typeface="DejaVu Sans"/>
              </a:rPr>
              <a:t>ANTI-PATTERN 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Box 30"/>
          <p:cNvSpPr/>
          <p:nvPr/>
        </p:nvSpPr>
        <p:spPr>
          <a:xfrm>
            <a:off x="502920" y="246960"/>
            <a:ext cx="987012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toFQDNs Without a DNS Proxy Rule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Rectangle 29"/>
          <p:cNvSpPr/>
          <p:nvPr/>
        </p:nvSpPr>
        <p:spPr>
          <a:xfrm>
            <a:off x="0" y="0"/>
            <a:ext cx="12186720" cy="680400"/>
          </a:xfrm>
          <a:prstGeom prst="rect">
            <a:avLst/>
          </a:prstGeom>
          <a:gradFill rotWithShape="0">
            <a:gsLst>
              <a:gs pos="0">
                <a:srgbClr val="D83749"/>
              </a:gs>
              <a:gs pos="100000">
                <a:srgbClr val="54267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67"/>
          <p:cNvSpPr/>
          <p:nvPr/>
        </p:nvSpPr>
        <p:spPr>
          <a:xfrm>
            <a:off x="502920" y="56520"/>
            <a:ext cx="987012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1050" b="1" u="none" strike="noStrike">
                <a:solidFill>
                  <a:srgbClr val="FBD9DF"/>
                </a:solidFill>
                <a:effectLst/>
                <a:uFillTx/>
                <a:latin typeface="Arial"/>
                <a:ea typeface="DejaVu Sans"/>
              </a:rPr>
              <a:t>ANTI-PATTERN 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Box 70"/>
          <p:cNvSpPr/>
          <p:nvPr/>
        </p:nvSpPr>
        <p:spPr>
          <a:xfrm>
            <a:off x="502920" y="248760"/>
            <a:ext cx="987012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toFQDNS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"/>
          <p:cNvSpPr/>
          <p:nvPr/>
        </p:nvSpPr>
        <p:spPr>
          <a:xfrm>
            <a:off x="1436760" y="963000"/>
            <a:ext cx="9715680" cy="58928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r>
              <a:rPr lang="en-IN" sz="1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spec: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 endpointSelector: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 {{- if $config.excludedPods }}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	</a:t>
            </a:r>
            <a:r>
              <a:rPr lang="en-IN" sz="1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...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 {{- else }}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   {}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 {{- end }}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 enableDefaultDeny: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   egress: true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   ingress: true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 # Allow only DNS egress to kube-dns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 egress: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 - toEndpoints: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   - matchLabels: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       io.kubernetes.pod.namespace: kube-system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       k8s-app: kube-dns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   toPorts: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   - ports: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     - port: "53"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       protocol: ANY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     rules: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       dns: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         - matchPattern: "*"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extBox 1"/>
          <p:cNvSpPr/>
          <p:nvPr/>
        </p:nvSpPr>
        <p:spPr>
          <a:xfrm>
            <a:off x="502920" y="54720"/>
            <a:ext cx="987012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1050" b="1" u="none" strike="noStrike">
                <a:solidFill>
                  <a:srgbClr val="FBD9DF"/>
                </a:solidFill>
                <a:effectLst/>
                <a:uFillTx/>
                <a:latin typeface="Arial"/>
                <a:ea typeface="DejaVu Sans"/>
              </a:rPr>
              <a:t>ANTI-PATTERN 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Box 2"/>
          <p:cNvSpPr/>
          <p:nvPr/>
        </p:nvSpPr>
        <p:spPr>
          <a:xfrm>
            <a:off x="502920" y="246960"/>
            <a:ext cx="987012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Default-Deny Surprises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Rectangle 3"/>
          <p:cNvSpPr/>
          <p:nvPr/>
        </p:nvSpPr>
        <p:spPr>
          <a:xfrm>
            <a:off x="502920" y="1051560"/>
            <a:ext cx="5481000" cy="324072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Rectangle 4"/>
          <p:cNvSpPr/>
          <p:nvPr/>
        </p:nvSpPr>
        <p:spPr>
          <a:xfrm>
            <a:off x="502920" y="1051560"/>
            <a:ext cx="5481000" cy="360360"/>
          </a:xfrm>
          <a:prstGeom prst="rect">
            <a:avLst/>
          </a:prstGeom>
          <a:solidFill>
            <a:srgbClr val="FCEE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Box 5"/>
          <p:cNvSpPr/>
          <p:nvPr/>
        </p:nvSpPr>
        <p:spPr>
          <a:xfrm>
            <a:off x="640080" y="1134360"/>
            <a:ext cx="5206680" cy="1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>
              <a:lnSpc>
                <a:spcPct val="100000"/>
              </a:lnSpc>
            </a:pPr>
            <a:r>
              <a:rPr lang="en-IN" sz="1300" b="1" u="none" strike="noStrike">
                <a:solidFill>
                  <a:srgbClr val="C02B2B"/>
                </a:solidFill>
                <a:effectLst/>
                <a:uFillTx/>
                <a:latin typeface="Arial"/>
                <a:ea typeface="DejaVu Sans"/>
              </a:rPr>
              <a:t>✗  WRONG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Box 6"/>
          <p:cNvSpPr/>
          <p:nvPr/>
        </p:nvSpPr>
        <p:spPr>
          <a:xfrm>
            <a:off x="667440" y="1527120"/>
            <a:ext cx="5151960" cy="15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Applying ANY CiliumNetworkPolicy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flips this endpoint from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"enforcement: never" to "always"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Result: DNS breaks, kubelet health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checks get dropped, pods restart 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none of it was explicitly denied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Rectangle 7"/>
          <p:cNvSpPr/>
          <p:nvPr/>
        </p:nvSpPr>
        <p:spPr>
          <a:xfrm>
            <a:off x="6263640" y="1051560"/>
            <a:ext cx="5481000" cy="324072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Rectangle 8"/>
          <p:cNvSpPr/>
          <p:nvPr/>
        </p:nvSpPr>
        <p:spPr>
          <a:xfrm>
            <a:off x="6263640" y="1051560"/>
            <a:ext cx="5481000" cy="360360"/>
          </a:xfrm>
          <a:prstGeom prst="rect">
            <a:avLst/>
          </a:prstGeom>
          <a:solidFill>
            <a:srgbClr val="EAF7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Box 9"/>
          <p:cNvSpPr/>
          <p:nvPr/>
        </p:nvSpPr>
        <p:spPr>
          <a:xfrm>
            <a:off x="6400800" y="1134360"/>
            <a:ext cx="5206680" cy="1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>
              <a:lnSpc>
                <a:spcPct val="100000"/>
              </a:lnSpc>
            </a:pPr>
            <a:r>
              <a:rPr lang="en-IN" sz="1300" b="1" u="none" strike="noStrike">
                <a:solidFill>
                  <a:srgbClr val="1E8E3E"/>
                </a:solidFill>
                <a:effectLst/>
                <a:uFillTx/>
                <a:latin typeface="Arial"/>
                <a:ea typeface="DejaVu Sans"/>
              </a:rPr>
              <a:t>✓  CORRECT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10"/>
          <p:cNvSpPr/>
          <p:nvPr/>
        </p:nvSpPr>
        <p:spPr>
          <a:xfrm>
            <a:off x="6428160" y="1527120"/>
            <a:ext cx="5151960" cy="224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# Treat default-deny as day-1 design,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not an afterthought: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 1. write a default deny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 2. allow DNS egress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 3. allow kubelet health-check probes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 4. allow kube-apiserver where needed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 5. allow ingress from operator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 6. roll out in audit/monitor mode first and check hubble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 7. THEN add app-specific rules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Rectangle 11"/>
          <p:cNvSpPr/>
          <p:nvPr/>
        </p:nvSpPr>
        <p:spPr>
          <a:xfrm>
            <a:off x="502920" y="4526280"/>
            <a:ext cx="11196000" cy="1000440"/>
          </a:xfrm>
          <a:prstGeom prst="rect">
            <a:avLst/>
          </a:prstGeom>
          <a:solidFill>
            <a:srgbClr val="FCEA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Rectangle 12"/>
          <p:cNvSpPr/>
          <p:nvPr/>
        </p:nvSpPr>
        <p:spPr>
          <a:xfrm>
            <a:off x="502920" y="4526280"/>
            <a:ext cx="45360" cy="1000440"/>
          </a:xfrm>
          <a:prstGeom prst="rect">
            <a:avLst/>
          </a:prstGeom>
          <a:solidFill>
            <a:srgbClr val="D8374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13"/>
          <p:cNvSpPr/>
          <p:nvPr/>
        </p:nvSpPr>
        <p:spPr>
          <a:xfrm>
            <a:off x="685800" y="4900680"/>
            <a:ext cx="1083024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>
              <a:lnSpc>
                <a:spcPct val="115000"/>
              </a:lnSpc>
            </a:pPr>
            <a:r>
              <a:rPr lang="en-IN" sz="1450" b="0" u="none" strike="noStrike">
                <a:solidFill>
                  <a:srgbClr val="0D2436"/>
                </a:solidFill>
                <a:effectLst/>
                <a:uFillTx/>
                <a:latin typeface="Arial"/>
                <a:ea typeface="DejaVu Sans"/>
              </a:rPr>
              <a:t>The very first CNP that selects a pod silently switches it from "no enforcement" to "default deny."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35"/>
          <p:cNvSpPr/>
          <p:nvPr/>
        </p:nvSpPr>
        <p:spPr>
          <a:xfrm>
            <a:off x="502920" y="55800"/>
            <a:ext cx="987012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1050" b="1" u="none" strike="noStrike">
                <a:solidFill>
                  <a:srgbClr val="FBD9DF"/>
                </a:solidFill>
                <a:effectLst/>
                <a:uFillTx/>
                <a:latin typeface="Arial"/>
                <a:ea typeface="DejaVu Sans"/>
              </a:rPr>
              <a:t>ANTI-PATTERN 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Rectangle 15"/>
          <p:cNvSpPr/>
          <p:nvPr/>
        </p:nvSpPr>
        <p:spPr>
          <a:xfrm>
            <a:off x="0" y="0"/>
            <a:ext cx="12186720" cy="680400"/>
          </a:xfrm>
          <a:prstGeom prst="rect">
            <a:avLst/>
          </a:prstGeom>
          <a:gradFill rotWithShape="0">
            <a:gsLst>
              <a:gs pos="0">
                <a:srgbClr val="D83749"/>
              </a:gs>
              <a:gs pos="100000">
                <a:srgbClr val="54267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Box 26"/>
          <p:cNvSpPr/>
          <p:nvPr/>
        </p:nvSpPr>
        <p:spPr>
          <a:xfrm>
            <a:off x="502920" y="248400"/>
            <a:ext cx="987012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Default-Deny Surprises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Box 36"/>
          <p:cNvSpPr/>
          <p:nvPr/>
        </p:nvSpPr>
        <p:spPr>
          <a:xfrm>
            <a:off x="502920" y="57240"/>
            <a:ext cx="987012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1050" b="1" u="none" strike="noStrike">
                <a:solidFill>
                  <a:srgbClr val="FBD9DF"/>
                </a:solidFill>
                <a:effectLst/>
                <a:uFillTx/>
                <a:latin typeface="Arial"/>
                <a:ea typeface="DejaVu Sans"/>
              </a:rPr>
              <a:t>ANTI-</a:t>
            </a:r>
            <a:r>
              <a:rPr lang="en-IN" sz="1050" b="1" u="none" strike="noStrike">
                <a:solidFill>
                  <a:srgbClr val="FBD9DF"/>
                </a:solidFill>
                <a:effectLst/>
                <a:uFillTx/>
                <a:latin typeface="Arial"/>
                <a:ea typeface="DejaVu Sans"/>
              </a:rPr>
              <a:t>PATTERN </a:t>
            </a:r>
            <a:r>
              <a:rPr lang="en-IN" sz="1050" b="1" u="none" strike="noStrike">
                <a:solidFill>
                  <a:srgbClr val="FBD9DF"/>
                </a:solidFill>
                <a:effectLst/>
                <a:uFillTx/>
                <a:latin typeface="Arial"/>
                <a:ea typeface="DejaVu Sans"/>
              </a:rPr>
              <a:t>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TextBox 1"/>
          <p:cNvSpPr/>
          <p:nvPr/>
        </p:nvSpPr>
        <p:spPr>
          <a:xfrm>
            <a:off x="502920" y="54720"/>
            <a:ext cx="987048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1050" b="1" u="none" strike="noStrike">
                <a:solidFill>
                  <a:srgbClr val="FBD9DF"/>
                </a:solidFill>
                <a:effectLst/>
                <a:uFillTx/>
                <a:latin typeface="Arial"/>
                <a:ea typeface="DejaVu Sans"/>
              </a:rPr>
              <a:t>ANTI-PATTERN 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2"/>
          <p:cNvSpPr/>
          <p:nvPr/>
        </p:nvSpPr>
        <p:spPr>
          <a:xfrm>
            <a:off x="502920" y="246960"/>
            <a:ext cx="987048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Assuming </a:t>
            </a:r>
            <a:r>
              <a:rPr lang="en-IN" sz="2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LoadBalancer Traffic Is </a:t>
            </a:r>
            <a:r>
              <a:rPr lang="en-IN" sz="2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Pre-Authorized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Rectangle 3"/>
          <p:cNvSpPr/>
          <p:nvPr/>
        </p:nvSpPr>
        <p:spPr>
          <a:xfrm>
            <a:off x="502920" y="1051560"/>
            <a:ext cx="5481360" cy="324108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Rectangle 4"/>
          <p:cNvSpPr/>
          <p:nvPr/>
        </p:nvSpPr>
        <p:spPr>
          <a:xfrm>
            <a:off x="502920" y="1051560"/>
            <a:ext cx="5481360" cy="360720"/>
          </a:xfrm>
          <a:prstGeom prst="rect">
            <a:avLst/>
          </a:prstGeom>
          <a:solidFill>
            <a:srgbClr val="FCEE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Box 5"/>
          <p:cNvSpPr/>
          <p:nvPr/>
        </p:nvSpPr>
        <p:spPr>
          <a:xfrm>
            <a:off x="640080" y="1134360"/>
            <a:ext cx="5207040" cy="1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>
              <a:lnSpc>
                <a:spcPct val="100000"/>
              </a:lnSpc>
            </a:pPr>
            <a:r>
              <a:rPr lang="en-IN" sz="1300" b="1" u="none" strike="noStrike">
                <a:solidFill>
                  <a:srgbClr val="C02B2B"/>
                </a:solidFill>
                <a:effectLst/>
                <a:uFillTx/>
                <a:latin typeface="Arial"/>
                <a:ea typeface="DejaVu Sans"/>
              </a:rPr>
              <a:t>✗  WRONG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Box 6"/>
          <p:cNvSpPr/>
          <p:nvPr/>
        </p:nvSpPr>
        <p:spPr>
          <a:xfrm>
            <a:off x="667440" y="1527120"/>
            <a:ext cx="5152320" cy="224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ingress: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- fromEndpoints: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    - matchLabels: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        app: frontend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# traffic actually arrives via an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# internet-facing Service/LB -- no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# fromEntities/fromCIDR rule admits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# it, so it's dropped right after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# the Service DNAT step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Rectangle 7"/>
          <p:cNvSpPr/>
          <p:nvPr/>
        </p:nvSpPr>
        <p:spPr>
          <a:xfrm>
            <a:off x="6263640" y="1051560"/>
            <a:ext cx="5481360" cy="324108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Rectangle 8"/>
          <p:cNvSpPr/>
          <p:nvPr/>
        </p:nvSpPr>
        <p:spPr>
          <a:xfrm>
            <a:off x="6263640" y="1051560"/>
            <a:ext cx="5481360" cy="360720"/>
          </a:xfrm>
          <a:prstGeom prst="rect">
            <a:avLst/>
          </a:prstGeom>
          <a:solidFill>
            <a:srgbClr val="EAF7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Box 9"/>
          <p:cNvSpPr/>
          <p:nvPr/>
        </p:nvSpPr>
        <p:spPr>
          <a:xfrm>
            <a:off x="6400800" y="1134360"/>
            <a:ext cx="5207040" cy="1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>
              <a:lnSpc>
                <a:spcPct val="100000"/>
              </a:lnSpc>
            </a:pPr>
            <a:r>
              <a:rPr lang="en-IN" sz="1300" b="1" u="none" strike="noStrike">
                <a:solidFill>
                  <a:srgbClr val="1E8E3E"/>
                </a:solidFill>
                <a:effectLst/>
                <a:uFillTx/>
                <a:latin typeface="Arial"/>
                <a:ea typeface="DejaVu Sans"/>
              </a:rPr>
              <a:t>✓  CORRECT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Box 10"/>
          <p:cNvSpPr/>
          <p:nvPr/>
        </p:nvSpPr>
        <p:spPr>
          <a:xfrm>
            <a:off x="6428160" y="1527120"/>
            <a:ext cx="5152320" cy="224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ingress: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- fromEndpoints: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    - matchLabels: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        app: frontend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- fromEntities: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    - world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# Service DNAT and policy enforcement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# are two separate, sequential steps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# -- passing the LB grants nothing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Rectangle 11"/>
          <p:cNvSpPr/>
          <p:nvPr/>
        </p:nvSpPr>
        <p:spPr>
          <a:xfrm>
            <a:off x="502920" y="4526280"/>
            <a:ext cx="11196360" cy="1000800"/>
          </a:xfrm>
          <a:prstGeom prst="rect">
            <a:avLst/>
          </a:prstGeom>
          <a:solidFill>
            <a:srgbClr val="FCEA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Rectangle 12"/>
          <p:cNvSpPr/>
          <p:nvPr/>
        </p:nvSpPr>
        <p:spPr>
          <a:xfrm>
            <a:off x="502920" y="4526280"/>
            <a:ext cx="45720" cy="1000800"/>
          </a:xfrm>
          <a:prstGeom prst="rect">
            <a:avLst/>
          </a:prstGeom>
          <a:solidFill>
            <a:srgbClr val="D8374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Box 13"/>
          <p:cNvSpPr/>
          <p:nvPr/>
        </p:nvSpPr>
        <p:spPr>
          <a:xfrm>
            <a:off x="685800" y="4647240"/>
            <a:ext cx="1083060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>
              <a:lnSpc>
                <a:spcPct val="115000"/>
              </a:lnSpc>
            </a:pPr>
            <a:r>
              <a:rPr lang="en-IN" sz="1450" b="0" u="none" strike="noStrike">
                <a:solidFill>
                  <a:srgbClr val="0D2436"/>
                </a:solidFill>
                <a:effectLst/>
                <a:uFillTx/>
                <a:latin typeface="Arial"/>
                <a:ea typeface="DejaVu Sans"/>
              </a:rPr>
              <a:t>A packet can pass Service load-balancing successfully and still get dropped immediately after by policy. The policy engine only ever sees world → Pod identity -- it doesn't know or care that traffic arrived via an internet facing Service, so that path needs its own explicit rule.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Rectangle 18"/>
          <p:cNvSpPr/>
          <p:nvPr/>
        </p:nvSpPr>
        <p:spPr>
          <a:xfrm>
            <a:off x="0" y="0"/>
            <a:ext cx="12186720" cy="680400"/>
          </a:xfrm>
          <a:prstGeom prst="rect">
            <a:avLst/>
          </a:prstGeom>
          <a:gradFill rotWithShape="0">
            <a:gsLst>
              <a:gs pos="0">
                <a:srgbClr val="D83749"/>
              </a:gs>
              <a:gs pos="100000">
                <a:srgbClr val="54267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Box 37"/>
          <p:cNvSpPr/>
          <p:nvPr/>
        </p:nvSpPr>
        <p:spPr>
          <a:xfrm>
            <a:off x="502920" y="56520"/>
            <a:ext cx="987048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1050" b="1" u="none" strike="noStrike">
                <a:solidFill>
                  <a:srgbClr val="FBD9DF"/>
                </a:solidFill>
                <a:effectLst/>
                <a:uFillTx/>
                <a:latin typeface="Arial"/>
                <a:ea typeface="DejaVu Sans"/>
              </a:rPr>
              <a:t>ANTI-PATTERN 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Box 38"/>
          <p:cNvSpPr/>
          <p:nvPr/>
        </p:nvSpPr>
        <p:spPr>
          <a:xfrm>
            <a:off x="502920" y="248760"/>
            <a:ext cx="987048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Assuming LoadBalancer Traffic Is Pre-Authorized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TextBox 1"/>
          <p:cNvSpPr/>
          <p:nvPr/>
        </p:nvSpPr>
        <p:spPr>
          <a:xfrm>
            <a:off x="502920" y="54720"/>
            <a:ext cx="987048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1050" b="1" u="none" strike="noStrike">
                <a:solidFill>
                  <a:srgbClr val="FBD9DF"/>
                </a:solidFill>
                <a:effectLst/>
                <a:uFillTx/>
                <a:latin typeface="Arial"/>
                <a:ea typeface="DejaVu Sans"/>
              </a:rPr>
              <a:t>ANTI-PATTERN 7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Box 2"/>
          <p:cNvSpPr/>
          <p:nvPr/>
        </p:nvSpPr>
        <p:spPr>
          <a:xfrm>
            <a:off x="502920" y="246960"/>
            <a:ext cx="987048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Expecting Instant Enforcement on Label Changes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Rectangle 3"/>
          <p:cNvSpPr/>
          <p:nvPr/>
        </p:nvSpPr>
        <p:spPr>
          <a:xfrm>
            <a:off x="502920" y="1051560"/>
            <a:ext cx="5481360" cy="324108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Rectangle 4"/>
          <p:cNvSpPr/>
          <p:nvPr/>
        </p:nvSpPr>
        <p:spPr>
          <a:xfrm>
            <a:off x="502920" y="1051560"/>
            <a:ext cx="5481360" cy="360720"/>
          </a:xfrm>
          <a:prstGeom prst="rect">
            <a:avLst/>
          </a:prstGeom>
          <a:solidFill>
            <a:srgbClr val="FCEE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Box 5"/>
          <p:cNvSpPr/>
          <p:nvPr/>
        </p:nvSpPr>
        <p:spPr>
          <a:xfrm>
            <a:off x="640080" y="1134360"/>
            <a:ext cx="5207040" cy="1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>
              <a:lnSpc>
                <a:spcPct val="100000"/>
              </a:lnSpc>
            </a:pPr>
            <a:r>
              <a:rPr lang="en-IN" sz="1300" b="1" u="none" strike="noStrike">
                <a:solidFill>
                  <a:srgbClr val="C02B2B"/>
                </a:solidFill>
                <a:effectLst/>
                <a:uFillTx/>
                <a:latin typeface="Arial"/>
                <a:ea typeface="DejaVu Sans"/>
              </a:rPr>
              <a:t>✗  WRONG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Box 6"/>
          <p:cNvSpPr/>
          <p:nvPr/>
        </p:nvSpPr>
        <p:spPr>
          <a:xfrm>
            <a:off x="667440" y="1527120"/>
            <a:ext cx="5152320" cy="181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# relabel a pod mid-incident to cut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# it off from a sensitive backend...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kubectl label pod x \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  role=quarantined --overwrite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# ...and assume the already-open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# connection to that backend is now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# blocked. It may not be, yet.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Rectangle 7"/>
          <p:cNvSpPr/>
          <p:nvPr/>
        </p:nvSpPr>
        <p:spPr>
          <a:xfrm>
            <a:off x="6263640" y="1051560"/>
            <a:ext cx="5481360" cy="324108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Rectangle 8"/>
          <p:cNvSpPr/>
          <p:nvPr/>
        </p:nvSpPr>
        <p:spPr>
          <a:xfrm>
            <a:off x="6263640" y="1051560"/>
            <a:ext cx="5481360" cy="360720"/>
          </a:xfrm>
          <a:prstGeom prst="rect">
            <a:avLst/>
          </a:prstGeom>
          <a:solidFill>
            <a:srgbClr val="EAF7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Box 9"/>
          <p:cNvSpPr/>
          <p:nvPr/>
        </p:nvSpPr>
        <p:spPr>
          <a:xfrm>
            <a:off x="6400800" y="1134360"/>
            <a:ext cx="5207040" cy="1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>
              <a:lnSpc>
                <a:spcPct val="100000"/>
              </a:lnSpc>
            </a:pPr>
            <a:r>
              <a:rPr lang="en-IN" sz="1300" b="1" u="none" strike="noStrike">
                <a:solidFill>
                  <a:srgbClr val="1E8E3E"/>
                </a:solidFill>
                <a:effectLst/>
                <a:uFillTx/>
                <a:latin typeface="Arial"/>
                <a:ea typeface="DejaVu Sans"/>
              </a:rPr>
              <a:t>✓  CORRECT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Box 10"/>
          <p:cNvSpPr/>
          <p:nvPr/>
        </p:nvSpPr>
        <p:spPr>
          <a:xfrm>
            <a:off x="6428160" y="1527120"/>
            <a:ext cx="5152320" cy="20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# treat relabeling as eventually-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# consistent, not instant: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#  - new identity =&gt; endpoint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#    regenerates policy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#  - enforcement is largely tied to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#    connection-setup time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#  - to force a cut: kill the pod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#    or the connection, don't just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IN" sz="1350" b="0" u="none" strike="noStrike">
                <a:solidFill>
                  <a:srgbClr val="0D2436"/>
                </a:solidFill>
                <a:effectLst/>
                <a:uFillTx/>
                <a:latin typeface="Consolas"/>
                <a:ea typeface="DejaVu Sans"/>
              </a:rPr>
              <a:t>#    relabel and assume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Rectangle 11"/>
          <p:cNvSpPr/>
          <p:nvPr/>
        </p:nvSpPr>
        <p:spPr>
          <a:xfrm>
            <a:off x="502920" y="4526280"/>
            <a:ext cx="11196360" cy="1000800"/>
          </a:xfrm>
          <a:prstGeom prst="rect">
            <a:avLst/>
          </a:prstGeom>
          <a:solidFill>
            <a:srgbClr val="FCEA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Rectangle 12"/>
          <p:cNvSpPr/>
          <p:nvPr/>
        </p:nvSpPr>
        <p:spPr>
          <a:xfrm>
            <a:off x="502920" y="4526280"/>
            <a:ext cx="45720" cy="1000800"/>
          </a:xfrm>
          <a:prstGeom prst="rect">
            <a:avLst/>
          </a:prstGeom>
          <a:solidFill>
            <a:srgbClr val="D8374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Box 13"/>
          <p:cNvSpPr/>
          <p:nvPr/>
        </p:nvSpPr>
        <p:spPr>
          <a:xfrm>
            <a:off x="685800" y="4647240"/>
            <a:ext cx="1083060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>
              <a:lnSpc>
                <a:spcPct val="115000"/>
              </a:lnSpc>
            </a:pPr>
            <a:r>
              <a:rPr lang="en-IN" sz="1450" b="0" u="none" strike="noStrike">
                <a:solidFill>
                  <a:srgbClr val="0D2436"/>
                </a:solidFill>
                <a:effectLst/>
                <a:uFillTx/>
                <a:latin typeface="Arial"/>
                <a:ea typeface="DejaVu Sans"/>
              </a:rPr>
              <a:t>Changing a Pod's labels recomputes its identity, but already-established connections aren't necessarily re-evaluated against policy instantly -- enforcement is largely at connection-setup time. Exact behavior is version- and config-dependent, so verify, don't assume.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Rectangle 19"/>
          <p:cNvSpPr/>
          <p:nvPr/>
        </p:nvSpPr>
        <p:spPr>
          <a:xfrm>
            <a:off x="3960" y="0"/>
            <a:ext cx="12186720" cy="680400"/>
          </a:xfrm>
          <a:prstGeom prst="rect">
            <a:avLst/>
          </a:prstGeom>
          <a:gradFill rotWithShape="0">
            <a:gsLst>
              <a:gs pos="0">
                <a:srgbClr val="D83749"/>
              </a:gs>
              <a:gs pos="100000">
                <a:srgbClr val="54267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Box 39"/>
          <p:cNvSpPr/>
          <p:nvPr/>
        </p:nvSpPr>
        <p:spPr>
          <a:xfrm>
            <a:off x="502920" y="56520"/>
            <a:ext cx="987048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1050" b="1" u="none" strike="noStrike">
                <a:solidFill>
                  <a:srgbClr val="FBD9DF"/>
                </a:solidFill>
                <a:effectLst/>
                <a:uFillTx/>
                <a:latin typeface="Arial"/>
                <a:ea typeface="DejaVu Sans"/>
              </a:rPr>
              <a:t>ANTI-PATTERN 7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Box 40"/>
          <p:cNvSpPr/>
          <p:nvPr/>
        </p:nvSpPr>
        <p:spPr>
          <a:xfrm>
            <a:off x="502920" y="248760"/>
            <a:ext cx="987048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Expecting Instant Enforcement on Label Changes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Rectangle 1"/>
          <p:cNvSpPr/>
          <p:nvPr/>
        </p:nvSpPr>
        <p:spPr>
          <a:xfrm>
            <a:off x="0" y="0"/>
            <a:ext cx="12188880" cy="682560"/>
          </a:xfrm>
          <a:prstGeom prst="rect">
            <a:avLst/>
          </a:prstGeom>
          <a:gradFill rotWithShape="0">
            <a:gsLst>
              <a:gs pos="0">
                <a:srgbClr val="D83749"/>
              </a:gs>
              <a:gs pos="100000">
                <a:srgbClr val="54267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Box 2"/>
          <p:cNvSpPr/>
          <p:nvPr/>
        </p:nvSpPr>
        <p:spPr>
          <a:xfrm>
            <a:off x="502920" y="54720"/>
            <a:ext cx="987228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1050" b="1" u="none" strike="noStrike">
                <a:solidFill>
                  <a:srgbClr val="FBD9DF"/>
                </a:solidFill>
                <a:effectLst/>
                <a:uFillTx/>
                <a:latin typeface="Arial"/>
                <a:ea typeface="DejaVu Sans"/>
              </a:rPr>
              <a:t>ANTI-PATTERN 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Box 3"/>
          <p:cNvSpPr/>
          <p:nvPr/>
        </p:nvSpPr>
        <p:spPr>
          <a:xfrm>
            <a:off x="502920" y="246960"/>
            <a:ext cx="987228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Death by a Thousand NetPols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Box 4"/>
          <p:cNvSpPr/>
          <p:nvPr/>
        </p:nvSpPr>
        <p:spPr>
          <a:xfrm>
            <a:off x="502920" y="1097280"/>
            <a:ext cx="5071680" cy="46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18000"/>
              </a:lnSpc>
              <a:spcAft>
                <a:spcPts val="1500"/>
              </a:spcAft>
            </a:pPr>
            <a:r>
              <a:rPr lang="en-IN" sz="1550" b="0" u="none" strike="noStrike">
                <a:solidFill>
                  <a:srgbClr val="3D4E5C"/>
                </a:solidFill>
                <a:effectLst/>
                <a:uFillTx/>
                <a:latin typeface="Arial"/>
                <a:ea typeface="DejaVu Sans"/>
              </a:rPr>
              <a:t>-  Real namespaces aren't one-app-per-ns - a shared ns like checkout might run 6, 8, 12+ services owned by different teams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  <a:spcAft>
                <a:spcPts val="1500"/>
              </a:spcAft>
            </a:pPr>
            <a:r>
              <a:rPr lang="en-IN" sz="1550" b="0" u="none" strike="noStrike">
                <a:solidFill>
                  <a:srgbClr val="3D4E5C"/>
                </a:solidFill>
                <a:effectLst/>
                <a:uFillTx/>
                <a:latin typeface="Arial"/>
                <a:ea typeface="DejaVu Sans"/>
              </a:rPr>
              <a:t>-  Every team bolts on their own CiliumNetworkPolicy whenever they need a new path open -- no shared owner, no central review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  <a:spcAft>
                <a:spcPts val="1500"/>
              </a:spcAft>
            </a:pPr>
            <a:r>
              <a:rPr lang="en-IN" sz="1550" b="0" u="none" strike="noStrike">
                <a:solidFill>
                  <a:srgbClr val="3D4E5C"/>
                </a:solidFill>
                <a:effectLst/>
                <a:uFillTx/>
                <a:latin typeface="Arial"/>
                <a:ea typeface="DejaVu Sans"/>
              </a:rPr>
              <a:t>-  Policies only ever compose additively -- nobody's rule technically conflicts with anyone else's, they just keep piling up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  <a:spcAft>
                <a:spcPts val="1500"/>
              </a:spcAft>
            </a:pPr>
            <a:r>
              <a:rPr lang="en-IN" sz="1550" b="0" u="none" strike="noStrike">
                <a:solidFill>
                  <a:srgbClr val="3D4E5C"/>
                </a:solidFill>
                <a:effectLst/>
                <a:uFillTx/>
                <a:latin typeface="Arial"/>
                <a:ea typeface="DejaVu Sans"/>
              </a:rPr>
              <a:t>-  Debugging a drop stops being “read the policy” and becomes “grep every CNP that selects this namespace and hope you find the one that's wrong”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8000"/>
              </a:lnSpc>
              <a:spcAft>
                <a:spcPts val="1500"/>
              </a:spcAft>
            </a:pPr>
            <a:r>
              <a:rPr lang="en-IN" sz="1550" b="0" u="none" strike="noStrike">
                <a:solidFill>
                  <a:srgbClr val="3D4E5C"/>
                </a:solidFill>
                <a:effectLst/>
                <a:uFillTx/>
                <a:latin typeface="Arial"/>
                <a:ea typeface="DejaVu Sans"/>
              </a:rPr>
              <a:t>-  The fix is centralizing NetPol authoring under one roof -- but naive centralization has its own trap. Next slide.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Rectangle 5"/>
          <p:cNvSpPr/>
          <p:nvPr/>
        </p:nvSpPr>
        <p:spPr>
          <a:xfrm>
            <a:off x="5897880" y="1143000"/>
            <a:ext cx="1020960" cy="362520"/>
          </a:xfrm>
          <a:prstGeom prst="rect">
            <a:avLst/>
          </a:prstGeom>
          <a:solidFill>
            <a:srgbClr val="FCEEEE"/>
          </a:solidFill>
          <a:ln w="12700">
            <a:solidFill>
              <a:srgbClr val="C02B2B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Box 6"/>
          <p:cNvSpPr/>
          <p:nvPr/>
        </p:nvSpPr>
        <p:spPr>
          <a:xfrm>
            <a:off x="6203520" y="1256760"/>
            <a:ext cx="410760" cy="13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spAutoFit/>
          </a:bodyPr>
          <a:p>
            <a:pPr algn="ctr">
              <a:lnSpc>
                <a:spcPct val="100000"/>
              </a:lnSpc>
            </a:pPr>
            <a:r>
              <a:rPr lang="en-IN" sz="900" b="1" u="none" strike="noStrike">
                <a:solidFill>
                  <a:srgbClr val="C02B2B"/>
                </a:solidFill>
                <a:effectLst/>
                <a:uFillTx/>
                <a:latin typeface="Consolas"/>
                <a:ea typeface="DejaVu Sans"/>
              </a:rPr>
              <a:t>team-a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Rectangle 7"/>
          <p:cNvSpPr/>
          <p:nvPr/>
        </p:nvSpPr>
        <p:spPr>
          <a:xfrm>
            <a:off x="7045560" y="1143000"/>
            <a:ext cx="1020960" cy="362520"/>
          </a:xfrm>
          <a:prstGeom prst="rect">
            <a:avLst/>
          </a:prstGeom>
          <a:solidFill>
            <a:srgbClr val="FCEEEE"/>
          </a:solidFill>
          <a:ln w="12700">
            <a:solidFill>
              <a:srgbClr val="C02B2B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Box 8"/>
          <p:cNvSpPr/>
          <p:nvPr/>
        </p:nvSpPr>
        <p:spPr>
          <a:xfrm>
            <a:off x="7248240" y="1256760"/>
            <a:ext cx="616680" cy="13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spAutoFit/>
          </a:bodyPr>
          <a:p>
            <a:pPr algn="ctr">
              <a:lnSpc>
                <a:spcPct val="100000"/>
              </a:lnSpc>
            </a:pPr>
            <a:r>
              <a:rPr lang="en-IN" sz="900" b="1" u="none" strike="noStrike">
                <a:solidFill>
                  <a:srgbClr val="C02B2B"/>
                </a:solidFill>
                <a:effectLst/>
                <a:uFillTx/>
                <a:latin typeface="Consolas"/>
                <a:ea typeface="DejaVu Sans"/>
              </a:rPr>
              <a:t>team-b-in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Rectangle 9"/>
          <p:cNvSpPr/>
          <p:nvPr/>
        </p:nvSpPr>
        <p:spPr>
          <a:xfrm>
            <a:off x="8192880" y="1143000"/>
            <a:ext cx="1020960" cy="362520"/>
          </a:xfrm>
          <a:prstGeom prst="rect">
            <a:avLst/>
          </a:prstGeom>
          <a:solidFill>
            <a:srgbClr val="FCEEEE"/>
          </a:solidFill>
          <a:ln w="12700">
            <a:solidFill>
              <a:srgbClr val="C02B2B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Box 10"/>
          <p:cNvSpPr/>
          <p:nvPr/>
        </p:nvSpPr>
        <p:spPr>
          <a:xfrm>
            <a:off x="8395560" y="1256760"/>
            <a:ext cx="616680" cy="13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spAutoFit/>
          </a:bodyPr>
          <a:p>
            <a:pPr algn="ctr">
              <a:lnSpc>
                <a:spcPct val="100000"/>
              </a:lnSpc>
            </a:pPr>
            <a:r>
              <a:rPr lang="en-IN" sz="900" b="1" u="none" strike="noStrike">
                <a:solidFill>
                  <a:srgbClr val="C02B2B"/>
                </a:solidFill>
                <a:effectLst/>
                <a:uFillTx/>
                <a:latin typeface="Consolas"/>
                <a:ea typeface="DejaVu Sans"/>
              </a:rPr>
              <a:t>legacy’23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Rectangle 11"/>
          <p:cNvSpPr/>
          <p:nvPr/>
        </p:nvSpPr>
        <p:spPr>
          <a:xfrm>
            <a:off x="9340560" y="1143000"/>
            <a:ext cx="1020960" cy="362520"/>
          </a:xfrm>
          <a:prstGeom prst="rect">
            <a:avLst/>
          </a:prstGeom>
          <a:solidFill>
            <a:srgbClr val="FCEEEE"/>
          </a:solidFill>
          <a:ln w="12700">
            <a:solidFill>
              <a:srgbClr val="C02B2B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Box 12"/>
          <p:cNvSpPr/>
          <p:nvPr/>
        </p:nvSpPr>
        <p:spPr>
          <a:xfrm>
            <a:off x="9543240" y="1256760"/>
            <a:ext cx="616680" cy="13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spAutoFit/>
          </a:bodyPr>
          <a:p>
            <a:pPr algn="ctr">
              <a:lnSpc>
                <a:spcPct val="100000"/>
              </a:lnSpc>
            </a:pPr>
            <a:r>
              <a:rPr lang="en-IN" sz="900" b="1" u="none" strike="noStrike">
                <a:solidFill>
                  <a:srgbClr val="C02B2B"/>
                </a:solidFill>
                <a:effectLst/>
                <a:uFillTx/>
                <a:latin typeface="Consolas"/>
                <a:ea typeface="DejaVu Sans"/>
              </a:rPr>
              <a:t>team-c-eg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Rectangle 13"/>
          <p:cNvSpPr/>
          <p:nvPr/>
        </p:nvSpPr>
        <p:spPr>
          <a:xfrm>
            <a:off x="10488240" y="1143000"/>
            <a:ext cx="1020960" cy="362520"/>
          </a:xfrm>
          <a:prstGeom prst="rect">
            <a:avLst/>
          </a:prstGeom>
          <a:solidFill>
            <a:srgbClr val="FCEEEE"/>
          </a:solidFill>
          <a:ln w="12700">
            <a:solidFill>
              <a:srgbClr val="C02B2B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Box 14"/>
          <p:cNvSpPr/>
          <p:nvPr/>
        </p:nvSpPr>
        <p:spPr>
          <a:xfrm>
            <a:off x="10931040" y="1256760"/>
            <a:ext cx="136440" cy="13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spAutoFit/>
          </a:bodyPr>
          <a:p>
            <a:pPr algn="ctr">
              <a:lnSpc>
                <a:spcPct val="100000"/>
              </a:lnSpc>
            </a:pPr>
            <a:r>
              <a:rPr lang="en-IN" sz="900" b="1" u="none" strike="noStrike">
                <a:solidFill>
                  <a:srgbClr val="C02B2B"/>
                </a:solidFill>
                <a:effectLst/>
                <a:uFillTx/>
                <a:latin typeface="Consolas"/>
                <a:ea typeface="DejaVu Sans"/>
              </a:rPr>
              <a:t>??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Connector 15"/>
          <p:cNvSpPr/>
          <p:nvPr/>
        </p:nvSpPr>
        <p:spPr>
          <a:xfrm>
            <a:off x="6409800" y="1508760"/>
            <a:ext cx="360" cy="457200"/>
          </a:xfrm>
          <a:prstGeom prst="line">
            <a:avLst/>
          </a:prstGeom>
          <a:ln w="12700">
            <a:solidFill>
              <a:srgbClr val="E3B0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Connector 16"/>
          <p:cNvSpPr/>
          <p:nvPr/>
        </p:nvSpPr>
        <p:spPr>
          <a:xfrm>
            <a:off x="7557480" y="1508760"/>
            <a:ext cx="360" cy="457200"/>
          </a:xfrm>
          <a:prstGeom prst="line">
            <a:avLst/>
          </a:prstGeom>
          <a:ln w="12700">
            <a:solidFill>
              <a:srgbClr val="E3B0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Connector 17"/>
          <p:cNvSpPr/>
          <p:nvPr/>
        </p:nvSpPr>
        <p:spPr>
          <a:xfrm>
            <a:off x="8704800" y="1508760"/>
            <a:ext cx="360" cy="457200"/>
          </a:xfrm>
          <a:prstGeom prst="line">
            <a:avLst/>
          </a:prstGeom>
          <a:ln w="12700">
            <a:solidFill>
              <a:srgbClr val="E3B0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Connector 18"/>
          <p:cNvSpPr/>
          <p:nvPr/>
        </p:nvSpPr>
        <p:spPr>
          <a:xfrm>
            <a:off x="9852480" y="1508760"/>
            <a:ext cx="360" cy="457200"/>
          </a:xfrm>
          <a:prstGeom prst="line">
            <a:avLst/>
          </a:prstGeom>
          <a:ln w="12700">
            <a:solidFill>
              <a:srgbClr val="E3B0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Connector 19"/>
          <p:cNvSpPr/>
          <p:nvPr/>
        </p:nvSpPr>
        <p:spPr>
          <a:xfrm>
            <a:off x="11000160" y="1508760"/>
            <a:ext cx="360" cy="457200"/>
          </a:xfrm>
          <a:prstGeom prst="line">
            <a:avLst/>
          </a:prstGeom>
          <a:ln w="12700">
            <a:solidFill>
              <a:srgbClr val="E3B0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Rectangle 20"/>
          <p:cNvSpPr/>
          <p:nvPr/>
        </p:nvSpPr>
        <p:spPr>
          <a:xfrm>
            <a:off x="6035040" y="1965960"/>
            <a:ext cx="5620320" cy="2511360"/>
          </a:xfrm>
          <a:prstGeom prst="rect">
            <a:avLst/>
          </a:prstGeom>
          <a:solidFill>
            <a:srgbClr val="F7F8F9"/>
          </a:solidFill>
          <a:ln w="12700">
            <a:solidFill>
              <a:srgbClr val="E3E7EB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Box 21"/>
          <p:cNvSpPr/>
          <p:nvPr/>
        </p:nvSpPr>
        <p:spPr>
          <a:xfrm>
            <a:off x="6217920" y="2039040"/>
            <a:ext cx="27399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1200" b="1" u="none" strike="noStrike">
                <a:solidFill>
                  <a:srgbClr val="3D4E5C"/>
                </a:solidFill>
                <a:effectLst/>
                <a:uFillTx/>
                <a:latin typeface="Consolas"/>
                <a:ea typeface="DejaVu Sans"/>
              </a:rPr>
              <a:t>ns: checkout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Rectangle 22"/>
          <p:cNvSpPr/>
          <p:nvPr/>
        </p:nvSpPr>
        <p:spPr>
          <a:xfrm>
            <a:off x="6263640" y="2423160"/>
            <a:ext cx="246564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B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Box 23"/>
          <p:cNvSpPr/>
          <p:nvPr/>
        </p:nvSpPr>
        <p:spPr>
          <a:xfrm>
            <a:off x="7257960" y="2712240"/>
            <a:ext cx="477720" cy="1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spAutoFit/>
          </a:bodyPr>
          <a:p>
            <a:pPr algn="ctr">
              <a:lnSpc>
                <a:spcPct val="100000"/>
              </a:lnSpc>
            </a:pPr>
            <a:r>
              <a:rPr lang="en-IN" sz="1300" b="1" u="none" strike="noStrike">
                <a:solidFill>
                  <a:srgbClr val="0D2436"/>
                </a:solidFill>
                <a:effectLst/>
                <a:uFillTx/>
                <a:latin typeface="Arial"/>
                <a:ea typeface="DejaVu Sans"/>
              </a:rPr>
              <a:t>App 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Rectangle 24"/>
          <p:cNvSpPr/>
          <p:nvPr/>
        </p:nvSpPr>
        <p:spPr>
          <a:xfrm>
            <a:off x="9006840" y="2423160"/>
            <a:ext cx="246564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B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Box 25"/>
          <p:cNvSpPr/>
          <p:nvPr/>
        </p:nvSpPr>
        <p:spPr>
          <a:xfrm>
            <a:off x="9998280" y="2712240"/>
            <a:ext cx="483840" cy="1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spAutoFit/>
          </a:bodyPr>
          <a:p>
            <a:pPr algn="ctr">
              <a:lnSpc>
                <a:spcPct val="100000"/>
              </a:lnSpc>
            </a:pPr>
            <a:r>
              <a:rPr lang="en-IN" sz="1300" b="1" u="none" strike="noStrike">
                <a:solidFill>
                  <a:srgbClr val="0D2436"/>
                </a:solidFill>
                <a:effectLst/>
                <a:uFillTx/>
                <a:latin typeface="Arial"/>
                <a:ea typeface="DejaVu Sans"/>
              </a:rPr>
              <a:t>App B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Rectangle 26"/>
          <p:cNvSpPr/>
          <p:nvPr/>
        </p:nvSpPr>
        <p:spPr>
          <a:xfrm>
            <a:off x="6263640" y="3429000"/>
            <a:ext cx="246564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B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Box 27"/>
          <p:cNvSpPr/>
          <p:nvPr/>
        </p:nvSpPr>
        <p:spPr>
          <a:xfrm>
            <a:off x="7255080" y="3718080"/>
            <a:ext cx="483840" cy="1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spAutoFit/>
          </a:bodyPr>
          <a:p>
            <a:pPr algn="ctr">
              <a:lnSpc>
                <a:spcPct val="100000"/>
              </a:lnSpc>
            </a:pPr>
            <a:r>
              <a:rPr lang="en-IN" sz="1300" b="1" u="none" strike="noStrike">
                <a:solidFill>
                  <a:srgbClr val="0D2436"/>
                </a:solidFill>
                <a:effectLst/>
                <a:uFillTx/>
                <a:latin typeface="Arial"/>
                <a:ea typeface="DejaVu Sans"/>
              </a:rPr>
              <a:t>App C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Rectangle 28"/>
          <p:cNvSpPr/>
          <p:nvPr/>
        </p:nvSpPr>
        <p:spPr>
          <a:xfrm>
            <a:off x="9006840" y="3429000"/>
            <a:ext cx="246564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B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Box 29"/>
          <p:cNvSpPr/>
          <p:nvPr/>
        </p:nvSpPr>
        <p:spPr>
          <a:xfrm>
            <a:off x="9998280" y="3718080"/>
            <a:ext cx="483840" cy="1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spAutoFit/>
          </a:bodyPr>
          <a:p>
            <a:pPr algn="ctr">
              <a:lnSpc>
                <a:spcPct val="100000"/>
              </a:lnSpc>
            </a:pPr>
            <a:r>
              <a:rPr lang="en-IN" sz="1300" b="1" u="none" strike="noStrike">
                <a:solidFill>
                  <a:srgbClr val="0D2436"/>
                </a:solidFill>
                <a:effectLst/>
                <a:uFillTx/>
                <a:latin typeface="Arial"/>
                <a:ea typeface="DejaVu Sans"/>
              </a:rPr>
              <a:t>App 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Box 30"/>
          <p:cNvSpPr/>
          <p:nvPr/>
        </p:nvSpPr>
        <p:spPr>
          <a:xfrm>
            <a:off x="6035040" y="4663440"/>
            <a:ext cx="56203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IN" sz="1500" b="1" u="none" strike="noStrike">
                <a:solidFill>
                  <a:srgbClr val="C02B2B"/>
                </a:solidFill>
                <a:effectLst/>
                <a:uFillTx/>
                <a:latin typeface="Arial"/>
                <a:ea typeface="DejaVu Sans"/>
              </a:rPr>
              <a:t>❓  which rule dropped this packet?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Rectangle 1"/>
          <p:cNvSpPr/>
          <p:nvPr/>
        </p:nvSpPr>
        <p:spPr>
          <a:xfrm>
            <a:off x="0" y="0"/>
            <a:ext cx="12188880" cy="682560"/>
          </a:xfrm>
          <a:prstGeom prst="rect">
            <a:avLst/>
          </a:prstGeom>
          <a:gradFill rotWithShape="0">
            <a:gsLst>
              <a:gs pos="0">
                <a:srgbClr val="D83749"/>
              </a:gs>
              <a:gs pos="100000">
                <a:srgbClr val="54267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Box 2"/>
          <p:cNvSpPr/>
          <p:nvPr/>
        </p:nvSpPr>
        <p:spPr>
          <a:xfrm>
            <a:off x="502920" y="54720"/>
            <a:ext cx="987228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1050" b="1" u="none" strike="noStrike">
                <a:solidFill>
                  <a:srgbClr val="FBD9DF"/>
                </a:solidFill>
                <a:effectLst/>
                <a:uFillTx/>
                <a:latin typeface="Arial"/>
                <a:ea typeface="DejaVu Sans"/>
              </a:rPr>
              <a:t>ANTI-PATTERN 8 · THE FIX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Box 3"/>
          <p:cNvSpPr/>
          <p:nvPr/>
        </p:nvSpPr>
        <p:spPr>
          <a:xfrm>
            <a:off x="502920" y="246960"/>
            <a:ext cx="98722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Centralize the Chart, Render Conditionally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8" name=""/>
          <p:cNvPicPr/>
          <p:nvPr/>
        </p:nvPicPr>
        <p:blipFill>
          <a:blip r:embed="rId1"/>
          <a:stretch/>
        </p:blipFill>
        <p:spPr>
          <a:xfrm>
            <a:off x="0" y="708120"/>
            <a:ext cx="12192120" cy="6149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Rectangle 21"/>
          <p:cNvSpPr/>
          <p:nvPr/>
        </p:nvSpPr>
        <p:spPr>
          <a:xfrm>
            <a:off x="0" y="0"/>
            <a:ext cx="12188880" cy="682560"/>
          </a:xfrm>
          <a:prstGeom prst="rect">
            <a:avLst/>
          </a:prstGeom>
          <a:gradFill rotWithShape="0">
            <a:gsLst>
              <a:gs pos="0">
                <a:srgbClr val="D83749"/>
              </a:gs>
              <a:gs pos="100000">
                <a:srgbClr val="54267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Box 41"/>
          <p:cNvSpPr/>
          <p:nvPr/>
        </p:nvSpPr>
        <p:spPr>
          <a:xfrm>
            <a:off x="502920" y="54720"/>
            <a:ext cx="987228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1050" b="1" u="none" strike="noStrike">
                <a:solidFill>
                  <a:srgbClr val="FBD9DF"/>
                </a:solidFill>
                <a:effectLst/>
                <a:uFillTx/>
                <a:latin typeface="Arial"/>
                <a:ea typeface="DejaVu Sans"/>
              </a:rPr>
              <a:t>ANTI-PATTERN 8 · THE FIX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Box 42"/>
          <p:cNvSpPr/>
          <p:nvPr/>
        </p:nvSpPr>
        <p:spPr>
          <a:xfrm>
            <a:off x="502920" y="246960"/>
            <a:ext cx="98722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Centralize the Chart, Render Conditionally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2" name=""/>
          <p:cNvPicPr/>
          <p:nvPr/>
        </p:nvPicPr>
        <p:blipFill>
          <a:blip r:embed="rId1"/>
          <a:stretch/>
        </p:blipFill>
        <p:spPr>
          <a:xfrm>
            <a:off x="540000" y="720000"/>
            <a:ext cx="11158560" cy="6058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Rectangle 23"/>
          <p:cNvSpPr/>
          <p:nvPr/>
        </p:nvSpPr>
        <p:spPr>
          <a:xfrm>
            <a:off x="0" y="0"/>
            <a:ext cx="12188880" cy="682560"/>
          </a:xfrm>
          <a:prstGeom prst="rect">
            <a:avLst/>
          </a:prstGeom>
          <a:gradFill rotWithShape="0">
            <a:gsLst>
              <a:gs pos="0">
                <a:srgbClr val="D83749"/>
              </a:gs>
              <a:gs pos="100000">
                <a:srgbClr val="54267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Box 50"/>
          <p:cNvSpPr/>
          <p:nvPr/>
        </p:nvSpPr>
        <p:spPr>
          <a:xfrm>
            <a:off x="502920" y="54720"/>
            <a:ext cx="987228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1050" b="1" u="none" strike="noStrike">
                <a:solidFill>
                  <a:srgbClr val="FBD9DF"/>
                </a:solidFill>
                <a:effectLst/>
                <a:uFillTx/>
                <a:latin typeface="Arial"/>
                <a:ea typeface="DejaVu Sans"/>
              </a:rPr>
              <a:t>ANTI-PATTERN 8 · THE FIX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Box 61"/>
          <p:cNvSpPr/>
          <p:nvPr/>
        </p:nvSpPr>
        <p:spPr>
          <a:xfrm>
            <a:off x="502920" y="246960"/>
            <a:ext cx="98722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Centralize the Chart, Render Conditionally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6" name=""/>
          <p:cNvPicPr/>
          <p:nvPr/>
        </p:nvPicPr>
        <p:blipFill>
          <a:blip r:embed="rId1"/>
          <a:stretch/>
        </p:blipFill>
        <p:spPr>
          <a:xfrm>
            <a:off x="540000" y="720000"/>
            <a:ext cx="11163600" cy="6118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TextBox 1"/>
          <p:cNvSpPr/>
          <p:nvPr/>
        </p:nvSpPr>
        <p:spPr>
          <a:xfrm>
            <a:off x="502920" y="144360"/>
            <a:ext cx="987012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>
              <a:lnSpc>
                <a:spcPct val="100000"/>
              </a:lnSpc>
            </a:pPr>
            <a:r>
              <a:rPr lang="en-IN" sz="2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Thank You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Rectangle 24"/>
          <p:cNvSpPr/>
          <p:nvPr/>
        </p:nvSpPr>
        <p:spPr>
          <a:xfrm>
            <a:off x="0" y="0"/>
            <a:ext cx="12186720" cy="680400"/>
          </a:xfrm>
          <a:prstGeom prst="rect">
            <a:avLst/>
          </a:prstGeom>
          <a:gradFill rotWithShape="0">
            <a:gsLst>
              <a:gs pos="0">
                <a:srgbClr val="D83749"/>
              </a:gs>
              <a:gs pos="100000">
                <a:srgbClr val="54267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Box 43"/>
          <p:cNvSpPr/>
          <p:nvPr/>
        </p:nvSpPr>
        <p:spPr>
          <a:xfrm>
            <a:off x="502920" y="144360"/>
            <a:ext cx="987012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>
              <a:lnSpc>
                <a:spcPct val="100000"/>
              </a:lnSpc>
            </a:pPr>
            <a:r>
              <a:rPr lang="en-IN" sz="2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Thank You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0" name=""/>
          <p:cNvPicPr/>
          <p:nvPr/>
        </p:nvPicPr>
        <p:blipFill>
          <a:blip r:embed="rId1"/>
          <a:stretch/>
        </p:blipFill>
        <p:spPr>
          <a:xfrm>
            <a:off x="2700000" y="2400480"/>
            <a:ext cx="1734840" cy="173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1" name="TextBox 44"/>
          <p:cNvSpPr/>
          <p:nvPr/>
        </p:nvSpPr>
        <p:spPr>
          <a:xfrm>
            <a:off x="2880000" y="4320000"/>
            <a:ext cx="287532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200" b="1" u="none" strike="noStrike">
                <a:solidFill>
                  <a:srgbClr val="0D2436"/>
                </a:solidFill>
                <a:effectLst/>
                <a:uFillTx/>
                <a:latin typeface="Arial"/>
                <a:ea typeface="DejaVu Sans"/>
              </a:rPr>
              <a:t>kubeaid.io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2" name=""/>
          <p:cNvPicPr/>
          <p:nvPr/>
        </p:nvPicPr>
        <p:blipFill>
          <a:blip r:embed="rId2"/>
          <a:stretch/>
        </p:blipFill>
        <p:spPr>
          <a:xfrm>
            <a:off x="7200000" y="2435040"/>
            <a:ext cx="1679760" cy="1679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3" name="TextBox 45"/>
          <p:cNvSpPr/>
          <p:nvPr/>
        </p:nvSpPr>
        <p:spPr>
          <a:xfrm>
            <a:off x="6215040" y="4266720"/>
            <a:ext cx="449532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2200" b="1" u="none" strike="noStrike">
                <a:solidFill>
                  <a:srgbClr val="0D2436"/>
                </a:solidFill>
                <a:effectLst/>
                <a:uFillTx/>
                <a:latin typeface="Arial"/>
                <a:ea typeface="DejaVu Sans"/>
              </a:rPr>
              <a:t>github.com/obmondo/KubeAid/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Box 63"/>
          <p:cNvSpPr/>
          <p:nvPr/>
        </p:nvSpPr>
        <p:spPr>
          <a:xfrm>
            <a:off x="685800" y="1143000"/>
            <a:ext cx="472392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IN" sz="3200" b="1" u="none" strike="noStrike">
                <a:solidFill>
                  <a:srgbClr val="0D2436"/>
                </a:solidFill>
                <a:effectLst/>
                <a:uFillTx/>
                <a:latin typeface="Arial"/>
                <a:ea typeface="DejaVu Sans"/>
              </a:rPr>
              <a:t>Know More: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1569</TotalTime>
  <Application>LibreOffice/26.2.5.2$Linux_X86_64 LibreOffice_project/6d2b0d33fb0f5da53a12f98bed3e9973e56ff1f0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2026-09-27T09:43:25Z</dcterms:modified>
  <cp:revision>25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