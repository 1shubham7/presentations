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10.png" ContentType="image/png"/>
  <Override PartName="/ppt/media/image2.jpeg" ContentType="image/jpeg"/>
  <Override PartName="/ppt/media/image3.png" ContentType="image/png"/>
  <Override PartName="/ppt/media/image4.jpeg" ContentType="image/jpeg"/>
  <Override PartName="/ppt/media/image5.jpeg" ContentType="image/jpe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19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</a:t>
            </a:r>
            <a:r>
              <a:rPr b="0" lang="en-IN" sz="4400" spc="-1" strike="noStrike">
                <a:latin typeface="Arial"/>
              </a:rPr>
              <a:t>to </a:t>
            </a:r>
            <a:r>
              <a:rPr b="0" lang="en-IN" sz="4400" spc="-1" strike="noStrike">
                <a:latin typeface="Arial"/>
              </a:rPr>
              <a:t>edit </a:t>
            </a:r>
            <a:r>
              <a:rPr b="0" lang="en-IN" sz="4400" spc="-1" strike="noStrike">
                <a:latin typeface="Arial"/>
              </a:rPr>
              <a:t>the </a:t>
            </a:r>
            <a:r>
              <a:rPr b="0" lang="en-IN" sz="4400" spc="-1" strike="noStrike">
                <a:latin typeface="Arial"/>
              </a:rPr>
              <a:t>title </a:t>
            </a:r>
            <a:r>
              <a:rPr b="0" lang="en-IN" sz="4400" spc="-1" strike="noStrike">
                <a:latin typeface="Arial"/>
              </a:rPr>
              <a:t>text </a:t>
            </a:r>
            <a:r>
              <a:rPr b="0" lang="en-IN" sz="4400" spc="-1" strike="noStrike">
                <a:latin typeface="Arial"/>
              </a:rPr>
              <a:t>form</a:t>
            </a:r>
            <a:r>
              <a:rPr b="0" lang="en-IN" sz="4400" spc="-1" strike="noStrike">
                <a:latin typeface="Arial"/>
              </a:rPr>
              <a:t>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IN" sz="4400" spc="-1" strike="noStrike">
                <a:latin typeface="Arial"/>
              </a:rPr>
              <a:t>Click </a:t>
            </a:r>
            <a:r>
              <a:rPr b="0" lang="en-IN" sz="4400" spc="-1" strike="noStrike">
                <a:latin typeface="Arial"/>
              </a:rPr>
              <a:t>to </a:t>
            </a:r>
            <a:r>
              <a:rPr b="0" lang="en-IN" sz="4400" spc="-1" strike="noStrike">
                <a:latin typeface="Arial"/>
              </a:rPr>
              <a:t>edit </a:t>
            </a:r>
            <a:r>
              <a:rPr b="0" lang="en-IN" sz="4400" spc="-1" strike="noStrike">
                <a:latin typeface="Arial"/>
              </a:rPr>
              <a:t>the </a:t>
            </a:r>
            <a:r>
              <a:rPr b="0" lang="en-IN" sz="4400" spc="-1" strike="noStrike">
                <a:latin typeface="Arial"/>
              </a:rPr>
              <a:t>title </a:t>
            </a:r>
            <a:r>
              <a:rPr b="0" lang="en-IN" sz="4400" spc="-1" strike="noStrike">
                <a:latin typeface="Arial"/>
              </a:rPr>
              <a:t>text </a:t>
            </a:r>
            <a:r>
              <a:rPr b="0" lang="en-IN" sz="4400" spc="-1" strike="noStrike">
                <a:latin typeface="Arial"/>
              </a:rPr>
              <a:t>form</a:t>
            </a:r>
            <a:r>
              <a:rPr b="0" lang="en-IN" sz="4400" spc="-1" strike="noStrike">
                <a:latin typeface="Arial"/>
              </a:rPr>
              <a:t>at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latin typeface="Arial"/>
              </a:rPr>
              <a:t>Click to edit the outline text format</a:t>
            </a:r>
            <a:endParaRPr b="0" lang="en-IN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800" spc="-1" strike="noStrike">
                <a:latin typeface="Arial"/>
              </a:rPr>
              <a:t>Second Outline Level</a:t>
            </a:r>
            <a:endParaRPr b="0" lang="en-IN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400" spc="-1" strike="noStrike">
                <a:latin typeface="Arial"/>
              </a:rPr>
              <a:t>Third Outline Level</a:t>
            </a:r>
            <a:endParaRPr b="0" lang="en-IN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latin typeface="Arial"/>
              </a:rPr>
              <a:t>Fourth Outline Level</a:t>
            </a:r>
            <a:endParaRPr b="0" lang="en-IN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Fifth Outline Level</a:t>
            </a:r>
            <a:endParaRPr b="0" lang="en-IN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Sixth Outline Level</a:t>
            </a:r>
            <a:endParaRPr b="0" lang="en-IN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latin typeface="Arial"/>
              </a:rPr>
              <a:t>Seventh Outline Level</a:t>
            </a:r>
            <a:endParaRPr b="0" lang="en-IN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3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142;g31ed28cfa71_0_238"/>
          <p:cNvSpPr/>
          <p:nvPr/>
        </p:nvSpPr>
        <p:spPr>
          <a:xfrm>
            <a:off x="468000" y="3426120"/>
            <a:ext cx="5141880" cy="106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rmAutofit fontScale="78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Montserrat"/>
                <a:ea typeface="Montserrat"/>
              </a:rPr>
              <a:t> 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Montserrat"/>
                <a:ea typeface="Montserrat"/>
              </a:rPr>
              <a:t> </a:t>
            </a:r>
            <a:r>
              <a:rPr b="0" lang="en" sz="2800" spc="-1" strike="noStrike">
                <a:solidFill>
                  <a:srgbClr val="ffffff"/>
                </a:solidFill>
                <a:latin typeface="Montserrat"/>
                <a:ea typeface="Montserrat"/>
              </a:rPr>
              <a:t>Shubham Singh, Obmondo</a:t>
            </a:r>
            <a:endParaRPr b="0" lang="en-IN" sz="2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Montserrat"/>
                <a:ea typeface="Montserrat"/>
              </a:rPr>
              <a:t> </a:t>
            </a:r>
            <a:r>
              <a:rPr b="0" lang="en" sz="2800" spc="-1" strike="noStrike">
                <a:solidFill>
                  <a:srgbClr val="ffffff"/>
                </a:solidFill>
                <a:latin typeface="Montserrat"/>
                <a:ea typeface="Montserrat"/>
              </a:rPr>
              <a:t>Ashish Jaiswal, Obmondo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77" name="Google Shape;143;g31ed28cfa71_0_ 2"/>
          <p:cNvSpPr/>
          <p:nvPr/>
        </p:nvSpPr>
        <p:spPr>
          <a:xfrm>
            <a:off x="540000" y="2160000"/>
            <a:ext cx="10812960" cy="191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600" spc="-1" strike="noStrike">
                <a:solidFill>
                  <a:srgbClr val="ffffff"/>
                </a:solidFill>
                <a:latin typeface="Montserrat"/>
                <a:ea typeface="Montserrat"/>
              </a:rPr>
              <a:t>Cilium Network Policy Anti-Patterns I Learned the Hard Way</a:t>
            </a:r>
            <a:endParaRPr b="0" lang="en-IN" sz="3600" spc="-1" strike="noStrike">
              <a:latin typeface="Arial"/>
            </a:endParaRPr>
          </a:p>
        </p:txBody>
      </p:sp>
      <p:pic>
        <p:nvPicPr>
          <p:cNvPr id="78" name="" descr=""/>
          <p:cNvPicPr/>
          <p:nvPr/>
        </p:nvPicPr>
        <p:blipFill>
          <a:blip r:embed="rId1"/>
          <a:stretch/>
        </p:blipFill>
        <p:spPr>
          <a:xfrm>
            <a:off x="9364320" y="360000"/>
            <a:ext cx="2690640" cy="1074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148;g31ed28cfa71_0_312"/>
          <p:cNvSpPr/>
          <p:nvPr/>
        </p:nvSpPr>
        <p:spPr>
          <a:xfrm>
            <a:off x="371520" y="-46080"/>
            <a:ext cx="10510200" cy="8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Arial"/>
                <a:ea typeface="Arial"/>
              </a:rPr>
              <a:t>About Myself</a:t>
            </a:r>
            <a:endParaRPr b="0" lang="en-IN" sz="2800" spc="-1" strike="noStrike">
              <a:latin typeface="Arial"/>
            </a:endParaRPr>
          </a:p>
        </p:txBody>
      </p:sp>
      <p:pic>
        <p:nvPicPr>
          <p:cNvPr id="80" name="Google Shape;149;g31ed28cfa71_0_ 2" descr=""/>
          <p:cNvPicPr/>
          <p:nvPr/>
        </p:nvPicPr>
        <p:blipFill>
          <a:blip r:embed="rId1"/>
          <a:stretch/>
        </p:blipFill>
        <p:spPr>
          <a:xfrm>
            <a:off x="8235360" y="2261520"/>
            <a:ext cx="2531880" cy="2531520"/>
          </a:xfrm>
          <a:prstGeom prst="rect">
            <a:avLst/>
          </a:prstGeom>
          <a:ln w="0">
            <a:noFill/>
          </a:ln>
        </p:spPr>
      </p:pic>
      <p:sp>
        <p:nvSpPr>
          <p:cNvPr id="81" name="Google Shape;150;g31ed28cfa71_0_ 2"/>
          <p:cNvSpPr/>
          <p:nvPr/>
        </p:nvSpPr>
        <p:spPr>
          <a:xfrm>
            <a:off x="7944480" y="5007960"/>
            <a:ext cx="3112920" cy="6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000000"/>
                </a:solidFill>
                <a:latin typeface="Microsoft Yahei"/>
                <a:ea typeface="Microsoft Yahei"/>
              </a:rPr>
              <a:t>GitHub: @1shubham7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000000"/>
                </a:solidFill>
                <a:latin typeface="Microsoft Yahei"/>
                <a:ea typeface="Microsoft Yahei"/>
              </a:rPr>
              <a:t>Twitter: @1shubham7</a:t>
            </a:r>
            <a:endParaRPr b="0" lang="en-IN" sz="120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000000"/>
                </a:solidFill>
                <a:latin typeface="Microsoft Yahei"/>
                <a:ea typeface="Microsoft Yahei"/>
              </a:rPr>
              <a:t>Youtube: @pea-shooter17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2" name="Google Shape;151;g31ed28cfa71_0_ 2"/>
          <p:cNvSpPr/>
          <p:nvPr/>
        </p:nvSpPr>
        <p:spPr>
          <a:xfrm>
            <a:off x="1661040" y="2450520"/>
            <a:ext cx="5947560" cy="30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595959"/>
                </a:solidFill>
                <a:latin typeface="Microsoft Yahei"/>
                <a:ea typeface="Microsoft Yahei"/>
              </a:rPr>
              <a:t>Hi 👋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595959"/>
                </a:solidFill>
                <a:latin typeface="Microsoft Yahei"/>
                <a:ea typeface="Microsoft Yahei"/>
              </a:rPr>
              <a:t>This is Shubham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595959"/>
              </a:buClr>
              <a:buFont typeface="Microsoft Yahei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595959"/>
                </a:solidFill>
                <a:latin typeface="Microsoft Yahei"/>
                <a:ea typeface="Microsoft Yahei"/>
              </a:rPr>
              <a:t>SRE @Obmondo</a:t>
            </a:r>
            <a:endParaRPr b="0" lang="en-IN" sz="14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595959"/>
              </a:buClr>
              <a:buFont typeface="Microsoft Yahei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595959"/>
                </a:solidFill>
                <a:latin typeface="Microsoft Yahei"/>
                <a:ea typeface="Microsoft Yahei"/>
              </a:rPr>
              <a:t>Certified Kubernetes Administrator</a:t>
            </a:r>
            <a:endParaRPr b="0" lang="en-IN" sz="14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595959"/>
              </a:buClr>
              <a:buFont typeface="Microsoft Yahei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595959"/>
                </a:solidFill>
                <a:latin typeface="Microsoft Yahei"/>
                <a:ea typeface="Microsoft Yahei"/>
              </a:rPr>
              <a:t>CNCF Contributor</a:t>
            </a:r>
            <a:endParaRPr b="0" lang="en-IN" sz="14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595959"/>
              </a:buClr>
              <a:buFont typeface="Microsoft Yahei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595959"/>
                </a:solidFill>
                <a:latin typeface="Microsoft Yahei"/>
                <a:ea typeface="Microsoft Yahei"/>
              </a:rPr>
              <a:t>LFX graduated mentee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</p:txBody>
      </p:sp>
      <p:sp>
        <p:nvSpPr>
          <p:cNvPr id="83" name="Rectangle 2"/>
          <p:cNvSpPr/>
          <p:nvPr/>
        </p:nvSpPr>
        <p:spPr>
          <a:xfrm>
            <a:off x="0" y="0"/>
            <a:ext cx="12187080" cy="6807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4" name=""/>
          <p:cNvSpPr/>
          <p:nvPr/>
        </p:nvSpPr>
        <p:spPr>
          <a:xfrm>
            <a:off x="193320" y="105840"/>
            <a:ext cx="223344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" sz="2800" spc="-1" strike="noStrike">
                <a:solidFill>
                  <a:srgbClr val="ffffff"/>
                </a:solidFill>
                <a:latin typeface="Arial"/>
                <a:ea typeface="Arial"/>
              </a:rPr>
              <a:t>About Us</a:t>
            </a:r>
            <a:endParaRPr b="0" lang="en-IN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148;g31ed28cfa71_0_ 1"/>
          <p:cNvSpPr/>
          <p:nvPr/>
        </p:nvSpPr>
        <p:spPr>
          <a:xfrm>
            <a:off x="371520" y="-46080"/>
            <a:ext cx="10510200" cy="81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rm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ffffff"/>
                </a:solidFill>
                <a:latin typeface="Arial"/>
                <a:ea typeface="Arial"/>
              </a:rPr>
              <a:t>About Myself</a:t>
            </a:r>
            <a:endParaRPr b="0" lang="en-IN" sz="2800" spc="-1" strike="noStrike">
              <a:latin typeface="Arial"/>
            </a:endParaRPr>
          </a:p>
        </p:txBody>
      </p:sp>
      <p:sp>
        <p:nvSpPr>
          <p:cNvPr id="86" name="Google Shape;150;g31ed28cfa71_0_ 3"/>
          <p:cNvSpPr/>
          <p:nvPr/>
        </p:nvSpPr>
        <p:spPr>
          <a:xfrm>
            <a:off x="7944480" y="5007960"/>
            <a:ext cx="3112920" cy="68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200" spc="-1" strike="noStrike">
                <a:solidFill>
                  <a:srgbClr val="000000"/>
                </a:solidFill>
                <a:latin typeface="Microsoft Yahei"/>
                <a:ea typeface="Microsoft Yahei"/>
              </a:rPr>
              <a:t>GitHub: @ashish1099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7" name="Google Shape;151;g31ed28cfa71_0_ 3"/>
          <p:cNvSpPr/>
          <p:nvPr/>
        </p:nvSpPr>
        <p:spPr>
          <a:xfrm>
            <a:off x="1661040" y="2450520"/>
            <a:ext cx="5947560" cy="305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595959"/>
                </a:solidFill>
                <a:latin typeface="Microsoft Yahei"/>
                <a:ea typeface="Microsoft Yahei"/>
              </a:rPr>
              <a:t>Hi 👋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800" spc="-1" strike="noStrike">
                <a:solidFill>
                  <a:srgbClr val="595959"/>
                </a:solidFill>
                <a:latin typeface="Microsoft Yahei"/>
                <a:ea typeface="Microsoft Yahei"/>
              </a:rPr>
              <a:t>This is Ashish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8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595959"/>
              </a:buClr>
              <a:buFont typeface="Microsoft Yahei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595959"/>
                </a:solidFill>
                <a:latin typeface="Microsoft Yahei"/>
                <a:ea typeface="Microsoft Yahei"/>
              </a:rPr>
              <a:t>CTO @Obmondo</a:t>
            </a:r>
            <a:endParaRPr b="0" lang="en-IN" sz="14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595959"/>
              </a:buClr>
              <a:buFont typeface="Microsoft Yahei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595959"/>
                </a:solidFill>
                <a:latin typeface="Microsoft Yahei"/>
                <a:ea typeface="Microsoft Yahei"/>
              </a:rPr>
              <a:t>15+ years building Cloud Native Solutions</a:t>
            </a:r>
            <a:endParaRPr b="0" lang="en-IN" sz="1400" spc="-1" strike="noStrike"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595959"/>
              </a:buClr>
              <a:buFont typeface="Microsoft Yahei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595959"/>
                </a:solidFill>
                <a:latin typeface="Microsoft Yahei"/>
                <a:ea typeface="Microsoft Yahei"/>
              </a:rPr>
              <a:t>Maintainer LinuxAid and KubeAid</a:t>
            </a: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IN" sz="1400" spc="-1" strike="noStrike">
              <a:latin typeface="Arial"/>
            </a:endParaRPr>
          </a:p>
        </p:txBody>
      </p:sp>
      <p:sp>
        <p:nvSpPr>
          <p:cNvPr id="88" name="Rectangle 25"/>
          <p:cNvSpPr/>
          <p:nvPr/>
        </p:nvSpPr>
        <p:spPr>
          <a:xfrm>
            <a:off x="0" y="0"/>
            <a:ext cx="12187080" cy="6807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9" name=""/>
          <p:cNvSpPr/>
          <p:nvPr/>
        </p:nvSpPr>
        <p:spPr>
          <a:xfrm>
            <a:off x="193320" y="105840"/>
            <a:ext cx="223344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" sz="2800" spc="-1" strike="noStrike">
                <a:solidFill>
                  <a:srgbClr val="ffffff"/>
                </a:solidFill>
                <a:latin typeface="Arial"/>
                <a:ea typeface="Arial"/>
              </a:rPr>
              <a:t>About Us</a:t>
            </a:r>
            <a:endParaRPr b="0" lang="en-IN" sz="2800" spc="-1" strike="noStrike"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8460000" y="2700000"/>
            <a:ext cx="2284560" cy="228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 1"/>
          <p:cNvSpPr/>
          <p:nvPr/>
        </p:nvSpPr>
        <p:spPr>
          <a:xfrm>
            <a:off x="0" y="0"/>
            <a:ext cx="12187080" cy="6807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Box 3"/>
          <p:cNvSpPr/>
          <p:nvPr/>
        </p:nvSpPr>
        <p:spPr>
          <a:xfrm>
            <a:off x="502920" y="246960"/>
            <a:ext cx="11150640" cy="28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900" spc="-1" strike="noStrike">
                <a:solidFill>
                  <a:srgbClr val="ffffff"/>
                </a:solidFill>
                <a:latin typeface="Arial"/>
                <a:ea typeface="DejaVu Sans"/>
              </a:rPr>
              <a:t>Agenda</a:t>
            </a:r>
            <a:endParaRPr b="0" lang="en-IN" sz="1900" spc="-1" strike="noStrike"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502920" y="1234440"/>
            <a:ext cx="10510560" cy="145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>
              <a:lnSpc>
                <a:spcPct val="115000"/>
              </a:lnSpc>
              <a:spcAft>
                <a:spcPts val="18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900" spc="-1" strike="noStrike">
                <a:solidFill>
                  <a:srgbClr val="3d4e5c"/>
                </a:solidFill>
                <a:latin typeface="Arial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3d4e5c"/>
                </a:solidFill>
                <a:latin typeface="Arial"/>
                <a:ea typeface="DejaVu Sans"/>
              </a:rPr>
              <a:t>What Cilium is, in one breath</a:t>
            </a:r>
            <a:endParaRPr b="0" lang="en-IN" sz="19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18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900" spc="-1" strike="noStrike">
                <a:solidFill>
                  <a:srgbClr val="3d4e5c"/>
                </a:solidFill>
                <a:latin typeface="Arial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3d4e5c"/>
                </a:solidFill>
                <a:latin typeface="Arial"/>
                <a:ea typeface="DejaVu Sans"/>
              </a:rPr>
              <a:t>Why we chose CiliumNetworkPolicy over vanilla NetworkPolicy</a:t>
            </a:r>
            <a:endParaRPr b="0" lang="en-IN" sz="19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18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900" spc="-1" strike="noStrike">
                <a:solidFill>
                  <a:srgbClr val="3d4e5c"/>
                </a:solidFill>
                <a:latin typeface="Arial"/>
                <a:ea typeface="DejaVu Sans"/>
              </a:rPr>
              <a:t> </a:t>
            </a:r>
            <a:r>
              <a:rPr b="0" lang="en-IN" sz="1900" spc="-1" strike="noStrike">
                <a:solidFill>
                  <a:srgbClr val="3d4e5c"/>
                </a:solidFill>
                <a:latin typeface="Arial"/>
                <a:ea typeface="DejaVu Sans"/>
              </a:rPr>
              <a:t>8 anti-patterns from real production incidents</a:t>
            </a:r>
            <a:endParaRPr b="0" lang="en-IN" sz="1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/>
          <p:nvPr/>
        </p:nvSpPr>
        <p:spPr>
          <a:xfrm>
            <a:off x="502920" y="5472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01 · FOUNDATIONS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95" name="TextBox 2"/>
          <p:cNvSpPr/>
          <p:nvPr/>
        </p:nvSpPr>
        <p:spPr>
          <a:xfrm>
            <a:off x="502920" y="24696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What is Cilium?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96" name="TextBox 3"/>
          <p:cNvSpPr/>
          <p:nvPr/>
        </p:nvSpPr>
        <p:spPr>
          <a:xfrm>
            <a:off x="502920" y="1097280"/>
            <a:ext cx="6030000" cy="289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>
              <a:lnSpc>
                <a:spcPct val="115000"/>
              </a:lnSpc>
              <a:spcAft>
                <a:spcPts val="18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3d4e5c"/>
                </a:solidFill>
                <a:latin typeface="Arial"/>
                <a:ea typeface="DejaVu Sans"/>
              </a:rPr>
              <a:t>An eBPF-based networking, observability &amp; security layer for Kubernetes</a:t>
            </a:r>
            <a:endParaRPr b="0" lang="en-IN" sz="18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18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3d4e5c"/>
                </a:solidFill>
                <a:latin typeface="Arial"/>
                <a:ea typeface="DejaVu Sans"/>
              </a:rPr>
              <a:t>Replaces kube-proxy; enforces policy in the kernel, not iptables</a:t>
            </a:r>
            <a:endParaRPr b="0" lang="en-IN" sz="18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18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3d4e5c"/>
                </a:solidFill>
                <a:latin typeface="Arial"/>
                <a:ea typeface="DejaVu Sans"/>
              </a:rPr>
              <a:t>Identity-based security</a:t>
            </a:r>
            <a:endParaRPr b="0" lang="en-IN" sz="180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180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00" spc="-1" strike="noStrike">
                <a:solidFill>
                  <a:srgbClr val="3d4e5c"/>
                </a:solidFill>
                <a:latin typeface="Arial"/>
                <a:ea typeface="DejaVu Sans"/>
              </a:rPr>
              <a:t>Ships Hubble for flow visibility and CiliumNetworkPolicy as a richer superset of the native NetworkPolicy API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97" name="Rectangle 4"/>
          <p:cNvSpPr/>
          <p:nvPr/>
        </p:nvSpPr>
        <p:spPr>
          <a:xfrm>
            <a:off x="6949440" y="1097280"/>
            <a:ext cx="4704120" cy="39268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98" name="TextBox 5"/>
          <p:cNvSpPr/>
          <p:nvPr/>
        </p:nvSpPr>
        <p:spPr>
          <a:xfrm>
            <a:off x="7178040" y="1325880"/>
            <a:ext cx="4292640" cy="21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400" spc="-1" strike="noStrike">
                <a:solidFill>
                  <a:srgbClr val="0d2436"/>
                </a:solidFill>
                <a:latin typeface="Arial"/>
                <a:ea typeface="DejaVu Sans"/>
              </a:rPr>
              <a:t>Traditional NetworkPolicy vs CNP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9" name="TextBox 6"/>
          <p:cNvSpPr/>
          <p:nvPr/>
        </p:nvSpPr>
        <p:spPr>
          <a:xfrm>
            <a:off x="7178040" y="1783080"/>
            <a:ext cx="4246920" cy="189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b="0" lang="en-IN" sz="1550" spc="-1" strike="noStrike">
                <a:solidFill>
                  <a:srgbClr val="3d4e5c"/>
                </a:solidFill>
                <a:latin typeface="Arial"/>
                <a:ea typeface="DejaVu Sans"/>
              </a:rPr>
              <a:t>•  </a:t>
            </a:r>
            <a:r>
              <a:rPr b="0" lang="en-IN" sz="1550" spc="-1" strike="noStrike">
                <a:solidFill>
                  <a:srgbClr val="3d4e5c"/>
                </a:solidFill>
                <a:latin typeface="Arial"/>
                <a:ea typeface="DejaVu Sans"/>
              </a:rPr>
              <a:t>L3/L4 only  →  L3–L7 (HTTP, gRPC, Kafka, DNS)</a:t>
            </a:r>
            <a:endParaRPr b="0" lang="en-IN" sz="1550" spc="-1" strike="noStrike"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b="0" lang="en-IN" sz="1550" spc="-1" strike="noStrike">
                <a:solidFill>
                  <a:srgbClr val="3d4e5c"/>
                </a:solidFill>
                <a:latin typeface="Arial"/>
                <a:ea typeface="DejaVu Sans"/>
              </a:rPr>
              <a:t>•  </a:t>
            </a:r>
            <a:r>
              <a:rPr b="0" lang="en-IN" sz="1550" spc="-1" strike="noStrike">
                <a:solidFill>
                  <a:srgbClr val="3d4e5c"/>
                </a:solidFill>
                <a:latin typeface="Arial"/>
                <a:ea typeface="DejaVu Sans"/>
              </a:rPr>
              <a:t>IP/CIDR-centric  →  Identity/label-centric</a:t>
            </a:r>
            <a:endParaRPr b="0" lang="en-IN" sz="1550" spc="-1" strike="noStrike"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b="0" lang="en-IN" sz="1550" spc="-1" strike="noStrike">
                <a:solidFill>
                  <a:srgbClr val="3d4e5c"/>
                </a:solidFill>
                <a:latin typeface="Arial"/>
                <a:ea typeface="DejaVu Sans"/>
              </a:rPr>
              <a:t>•  </a:t>
            </a:r>
            <a:r>
              <a:rPr b="0" lang="en-IN" sz="1550" spc="-1" strike="noStrike">
                <a:solidFill>
                  <a:srgbClr val="3d4e5c"/>
                </a:solidFill>
                <a:latin typeface="Arial"/>
                <a:ea typeface="DejaVu Sans"/>
              </a:rPr>
              <a:t>iptables datapath  →  eBPF datapath</a:t>
            </a:r>
            <a:endParaRPr b="0" lang="en-IN" sz="1550" spc="-1" strike="noStrike">
              <a:latin typeface="Arial"/>
            </a:endParaRPr>
          </a:p>
          <a:p>
            <a:pPr>
              <a:lnSpc>
                <a:spcPct val="115000"/>
              </a:lnSpc>
              <a:spcAft>
                <a:spcPts val="1400"/>
              </a:spcAft>
              <a:buNone/>
            </a:pPr>
            <a:r>
              <a:rPr b="0" lang="en-IN" sz="1550" spc="-1" strike="noStrike">
                <a:solidFill>
                  <a:srgbClr val="3d4e5c"/>
                </a:solidFill>
                <a:latin typeface="Arial"/>
                <a:ea typeface="DejaVu Sans"/>
              </a:rPr>
              <a:t>•  </a:t>
            </a:r>
            <a:r>
              <a:rPr b="0" lang="en-IN" sz="1550" spc="-1" strike="noStrike">
                <a:solidFill>
                  <a:srgbClr val="3d4e5c"/>
                </a:solidFill>
                <a:latin typeface="Arial"/>
                <a:ea typeface="DejaVu Sans"/>
              </a:rPr>
              <a:t>No visibility  →  Hubble flow observability</a:t>
            </a:r>
            <a:endParaRPr b="0" lang="en-IN" sz="1550" spc="-1" strike="noStrike">
              <a:latin typeface="Arial"/>
            </a:endParaRPr>
          </a:p>
        </p:txBody>
      </p:sp>
      <p:sp>
        <p:nvSpPr>
          <p:cNvPr id="100" name="Rectangle 6"/>
          <p:cNvSpPr/>
          <p:nvPr/>
        </p:nvSpPr>
        <p:spPr>
          <a:xfrm>
            <a:off x="0" y="0"/>
            <a:ext cx="12187080" cy="6807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TextBox 11"/>
          <p:cNvSpPr/>
          <p:nvPr/>
        </p:nvSpPr>
        <p:spPr>
          <a:xfrm>
            <a:off x="555840" y="15444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What is Cilium?</a:t>
            </a:r>
            <a:endParaRPr b="0" lang="en-IN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Box 1"/>
          <p:cNvSpPr/>
          <p:nvPr/>
        </p:nvSpPr>
        <p:spPr>
          <a:xfrm>
            <a:off x="502920" y="5472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02 · FOUNDATIONS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03" name="TextBox 2"/>
          <p:cNvSpPr/>
          <p:nvPr/>
        </p:nvSpPr>
        <p:spPr>
          <a:xfrm>
            <a:off x="720000" y="18000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Why CiliumNetworkPolicy?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04" name="TextBox 3"/>
          <p:cNvSpPr/>
          <p:nvPr/>
        </p:nvSpPr>
        <p:spPr>
          <a:xfrm>
            <a:off x="502920" y="1143000"/>
            <a:ext cx="11150640" cy="296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marL="216000" indent="-216000">
              <a:lnSpc>
                <a:spcPct val="115000"/>
              </a:lnSpc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50" spc="-1" strike="noStrike">
                <a:solidFill>
                  <a:srgbClr val="3d4e5c"/>
                </a:solidFill>
                <a:latin typeface="Arial"/>
                <a:ea typeface="DejaVu Sans"/>
              </a:rPr>
              <a:t>Native netpols can only allow - CNP adds explicit deny</a:t>
            </a:r>
            <a:endParaRPr b="0" lang="en-IN" sz="185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50" spc="-1" strike="noStrike">
                <a:solidFill>
                  <a:srgbClr val="3d4e5c"/>
                </a:solidFill>
                <a:latin typeface="Arial"/>
                <a:ea typeface="DejaVu Sans"/>
              </a:rPr>
              <a:t>CiliumClusterwideNetworkPolicy for Cluster wide netpols</a:t>
            </a:r>
            <a:endParaRPr b="0" lang="en-IN" sz="185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50" spc="-1" strike="noStrike">
                <a:solidFill>
                  <a:srgbClr val="3d4e5c"/>
                </a:solidFill>
                <a:latin typeface="Arial"/>
                <a:ea typeface="DejaVu Sans"/>
              </a:rPr>
              <a:t>Native netpols - CIDR only, no hostnames support</a:t>
            </a:r>
            <a:endParaRPr b="0" lang="en-IN" sz="185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50" spc="-1" strike="noStrike">
                <a:solidFill>
                  <a:srgbClr val="3d4e5c"/>
                </a:solidFill>
                <a:latin typeface="Arial"/>
                <a:ea typeface="DejaVu Sans"/>
              </a:rPr>
              <a:t>DNS/L7-aware rules (toFQDNs, toServices, toEntities)</a:t>
            </a:r>
            <a:endParaRPr b="0" lang="en-IN" sz="1850" spc="-1" strike="noStrike">
              <a:latin typeface="Arial"/>
            </a:endParaRPr>
          </a:p>
          <a:p>
            <a:pPr marL="216000" indent="-216000">
              <a:lnSpc>
                <a:spcPct val="115000"/>
              </a:lnSpc>
              <a:spcAft>
                <a:spcPts val="2001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1850" spc="-1" strike="noStrike">
                <a:solidFill>
                  <a:srgbClr val="3d4e5c"/>
                </a:solidFill>
                <a:latin typeface="Arial"/>
                <a:ea typeface="DejaVu Sans"/>
              </a:rPr>
              <a:t>Native netpols can only reference Pods/ns via selectors, or raw CIDR blocks. CNP gives you predefined identities - world, host, cluster, kube-apiserver, remote-node.</a:t>
            </a:r>
            <a:endParaRPr b="0" lang="en-IN" sz="1850" spc="-1" strike="noStrike">
              <a:latin typeface="Arial"/>
            </a:endParaRPr>
          </a:p>
        </p:txBody>
      </p:sp>
      <p:sp>
        <p:nvSpPr>
          <p:cNvPr id="105" name="TextBox 12"/>
          <p:cNvSpPr/>
          <p:nvPr/>
        </p:nvSpPr>
        <p:spPr>
          <a:xfrm>
            <a:off x="502920" y="248040"/>
            <a:ext cx="98704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Box 16"/>
          <p:cNvSpPr/>
          <p:nvPr/>
        </p:nvSpPr>
        <p:spPr>
          <a:xfrm>
            <a:off x="502920" y="248040"/>
            <a:ext cx="98704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TextBox 17"/>
          <p:cNvSpPr/>
          <p:nvPr/>
        </p:nvSpPr>
        <p:spPr>
          <a:xfrm>
            <a:off x="502920" y="248040"/>
            <a:ext cx="98704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TextBox 18"/>
          <p:cNvSpPr/>
          <p:nvPr/>
        </p:nvSpPr>
        <p:spPr>
          <a:xfrm>
            <a:off x="502920" y="248040"/>
            <a:ext cx="98704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TextBox 19"/>
          <p:cNvSpPr/>
          <p:nvPr/>
        </p:nvSpPr>
        <p:spPr>
          <a:xfrm>
            <a:off x="502920" y="248040"/>
            <a:ext cx="98704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Box 20"/>
          <p:cNvSpPr/>
          <p:nvPr/>
        </p:nvSpPr>
        <p:spPr>
          <a:xfrm>
            <a:off x="502920" y="248040"/>
            <a:ext cx="98704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1" name="TextBox 21"/>
          <p:cNvSpPr/>
          <p:nvPr/>
        </p:nvSpPr>
        <p:spPr>
          <a:xfrm>
            <a:off x="744840" y="180000"/>
            <a:ext cx="98704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2" name="TextBox 22"/>
          <p:cNvSpPr/>
          <p:nvPr/>
        </p:nvSpPr>
        <p:spPr>
          <a:xfrm>
            <a:off x="502920" y="248040"/>
            <a:ext cx="98704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Rectangle 9"/>
          <p:cNvSpPr/>
          <p:nvPr/>
        </p:nvSpPr>
        <p:spPr>
          <a:xfrm>
            <a:off x="360" y="0"/>
            <a:ext cx="12187080" cy="6807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4" name="TextBox 23"/>
          <p:cNvSpPr/>
          <p:nvPr/>
        </p:nvSpPr>
        <p:spPr>
          <a:xfrm>
            <a:off x="720000" y="18108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Why CiliumNetworkPolicy?</a:t>
            </a:r>
            <a:endParaRPr b="0" lang="en-IN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Box 46"/>
          <p:cNvSpPr/>
          <p:nvPr/>
        </p:nvSpPr>
        <p:spPr>
          <a:xfrm>
            <a:off x="502920" y="5472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02 · FOUNDATIONS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16" name="TextBox 47"/>
          <p:cNvSpPr/>
          <p:nvPr/>
        </p:nvSpPr>
        <p:spPr>
          <a:xfrm>
            <a:off x="720000" y="18000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Why CiliumNetworkPolicy?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17" name="TextBox 48"/>
          <p:cNvSpPr/>
          <p:nvPr/>
        </p:nvSpPr>
        <p:spPr>
          <a:xfrm>
            <a:off x="502920" y="1143000"/>
            <a:ext cx="11150640" cy="263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TextBox 51"/>
          <p:cNvSpPr/>
          <p:nvPr/>
        </p:nvSpPr>
        <p:spPr>
          <a:xfrm>
            <a:off x="502920" y="248040"/>
            <a:ext cx="98704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Box 52"/>
          <p:cNvSpPr/>
          <p:nvPr/>
        </p:nvSpPr>
        <p:spPr>
          <a:xfrm>
            <a:off x="502920" y="248040"/>
            <a:ext cx="98704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Box 53"/>
          <p:cNvSpPr/>
          <p:nvPr/>
        </p:nvSpPr>
        <p:spPr>
          <a:xfrm>
            <a:off x="502920" y="248040"/>
            <a:ext cx="98704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TextBox 54"/>
          <p:cNvSpPr/>
          <p:nvPr/>
        </p:nvSpPr>
        <p:spPr>
          <a:xfrm>
            <a:off x="502920" y="248040"/>
            <a:ext cx="98704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Box 55"/>
          <p:cNvSpPr/>
          <p:nvPr/>
        </p:nvSpPr>
        <p:spPr>
          <a:xfrm>
            <a:off x="502920" y="248040"/>
            <a:ext cx="98704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TextBox 56"/>
          <p:cNvSpPr/>
          <p:nvPr/>
        </p:nvSpPr>
        <p:spPr>
          <a:xfrm>
            <a:off x="502920" y="248040"/>
            <a:ext cx="98704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Box 57"/>
          <p:cNvSpPr/>
          <p:nvPr/>
        </p:nvSpPr>
        <p:spPr>
          <a:xfrm>
            <a:off x="744840" y="180000"/>
            <a:ext cx="98704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Box 58"/>
          <p:cNvSpPr/>
          <p:nvPr/>
        </p:nvSpPr>
        <p:spPr>
          <a:xfrm>
            <a:off x="502920" y="248040"/>
            <a:ext cx="98704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6" name="Rectangle 22"/>
          <p:cNvSpPr/>
          <p:nvPr/>
        </p:nvSpPr>
        <p:spPr>
          <a:xfrm>
            <a:off x="360" y="0"/>
            <a:ext cx="12187080" cy="6807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TextBox 59"/>
          <p:cNvSpPr/>
          <p:nvPr/>
        </p:nvSpPr>
        <p:spPr>
          <a:xfrm>
            <a:off x="720000" y="181080"/>
            <a:ext cx="9870480" cy="33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"/>
          <p:cNvSpPr/>
          <p:nvPr/>
        </p:nvSpPr>
        <p:spPr>
          <a:xfrm>
            <a:off x="2160000" y="1062360"/>
            <a:ext cx="8703360" cy="46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apiVersion: cilium.io/v2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kind: CiliumNetworkPolicy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metadata: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name: db-access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namespace: production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spec: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endpointSelector: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matchLabels: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app: database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ingress: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- fromEndpoints: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- matchLabels: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role: backend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ingressDeny: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- fromEndpoints: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- matchLabels: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        </a:t>
            </a:r>
            <a:r>
              <a:rPr b="0" lang="en-IN" sz="1800" spc="-1" strike="noStrike">
                <a:solidFill>
                  <a:srgbClr val="000000"/>
                </a:solidFill>
                <a:latin typeface="Arial"/>
                <a:ea typeface="DejaVu Sans"/>
              </a:rPr>
              <a:t>role: untrusted-clientv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1440000" y="1143000"/>
            <a:ext cx="9716040" cy="521604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"/>
          <p:cNvSpPr/>
          <p:nvPr/>
        </p:nvSpPr>
        <p:spPr>
          <a:xfrm>
            <a:off x="1980000" y="1422360"/>
            <a:ext cx="8703360" cy="469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apiVersion: cilium.io/v2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kind: CiliumNetworkPolicy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metadata: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name: db-access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namespace: production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spec: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endpointSelector: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matchLabels: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     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app: database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ingress: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- fromEndpoints: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- matchLabels: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role: backend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ingressDeny: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 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- fromEndpoints: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- matchLabels: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en-IN" sz="1800" spc="-1" strike="noStrike">
                <a:solidFill>
                  <a:srgbClr val="ffffff"/>
                </a:solidFill>
                <a:latin typeface="Arial"/>
                <a:ea typeface="DejaVu Sans"/>
              </a:rPr>
              <a:t>role: untrusted-client</a:t>
            </a:r>
            <a:endParaRPr b="0" lang="en-IN" sz="1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/>
          <p:nvPr/>
        </p:nvSpPr>
        <p:spPr>
          <a:xfrm>
            <a:off x="502920" y="5472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PART TWO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2" name="TextBox 2"/>
          <p:cNvSpPr/>
          <p:nvPr/>
        </p:nvSpPr>
        <p:spPr>
          <a:xfrm>
            <a:off x="502920" y="24696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The Anti-Patterns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822960" y="2377440"/>
            <a:ext cx="10510560" cy="59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5000"/>
              </a:lnSpc>
              <a:buNone/>
            </a:pPr>
            <a:r>
              <a:rPr b="1" lang="en-IN" sz="3400" spc="-1" strike="noStrike">
                <a:solidFill>
                  <a:srgbClr val="0d2436"/>
                </a:solidFill>
                <a:latin typeface="Arial"/>
                <a:ea typeface="DejaVu Sans"/>
              </a:rPr>
              <a:t>8 anti patterns I learned about CNP</a:t>
            </a:r>
            <a:endParaRPr b="0" lang="en-IN" sz="3400" spc="-1" strike="noStrike">
              <a:latin typeface="Arial"/>
            </a:endParaRPr>
          </a:p>
        </p:txBody>
      </p:sp>
      <p:sp>
        <p:nvSpPr>
          <p:cNvPr id="134" name="Rectangle 10"/>
          <p:cNvSpPr/>
          <p:nvPr/>
        </p:nvSpPr>
        <p:spPr>
          <a:xfrm>
            <a:off x="0" y="0"/>
            <a:ext cx="12187080" cy="6807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TextBox 24"/>
          <p:cNvSpPr/>
          <p:nvPr/>
        </p:nvSpPr>
        <p:spPr>
          <a:xfrm>
            <a:off x="744840" y="18000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The Anti-Patterns</a:t>
            </a:r>
            <a:endParaRPr b="0" lang="en-IN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"/>
          <p:cNvSpPr/>
          <p:nvPr/>
        </p:nvSpPr>
        <p:spPr>
          <a:xfrm>
            <a:off x="502920" y="5472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2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37" name="TextBox 2"/>
          <p:cNvSpPr/>
          <p:nvPr/>
        </p:nvSpPr>
        <p:spPr>
          <a:xfrm>
            <a:off x="502920" y="24696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toServices Instead of toEndpoints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8" name="Rectangle 3"/>
          <p:cNvSpPr/>
          <p:nvPr/>
        </p:nvSpPr>
        <p:spPr>
          <a:xfrm>
            <a:off x="502920" y="1051560"/>
            <a:ext cx="5481360" cy="32410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39" name="Rectangle 4"/>
          <p:cNvSpPr/>
          <p:nvPr/>
        </p:nvSpPr>
        <p:spPr>
          <a:xfrm>
            <a:off x="502920" y="1051560"/>
            <a:ext cx="5481360" cy="36072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0" name="TextBox 5"/>
          <p:cNvSpPr/>
          <p:nvPr/>
        </p:nvSpPr>
        <p:spPr>
          <a:xfrm>
            <a:off x="640080" y="1134360"/>
            <a:ext cx="520704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300" spc="-1" strike="noStrike">
                <a:solidFill>
                  <a:srgbClr val="c02b2b"/>
                </a:solidFill>
                <a:latin typeface="Arial"/>
                <a:ea typeface="DejaVu Sans"/>
              </a:rPr>
              <a:t>✗  </a:t>
            </a:r>
            <a:r>
              <a:rPr b="1" lang="en-IN" sz="1300" spc="-1" strike="noStrike">
                <a:solidFill>
                  <a:srgbClr val="c02b2b"/>
                </a:solidFill>
                <a:latin typeface="Arial"/>
                <a:ea typeface="DejaVu Sans"/>
              </a:rPr>
              <a:t>WRONG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1" name="TextBox 6"/>
          <p:cNvSpPr/>
          <p:nvPr/>
        </p:nvSpPr>
        <p:spPr>
          <a:xfrm>
            <a:off x="667440" y="1527120"/>
            <a:ext cx="5152320" cy="26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egress: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toServices: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k8sService: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serviceName: my-database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namespace: my-namespace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toPorts: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ports: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port: "5432"   # Service port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Service exposes 5432, Pod (pgbouncer)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listens on 6432 -- after DNAT the dest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port is 6432, so this never matches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42" name="Rectangle 7"/>
          <p:cNvSpPr/>
          <p:nvPr/>
        </p:nvSpPr>
        <p:spPr>
          <a:xfrm>
            <a:off x="6263640" y="1051560"/>
            <a:ext cx="5481360" cy="32410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3" name="Rectangle 8"/>
          <p:cNvSpPr/>
          <p:nvPr/>
        </p:nvSpPr>
        <p:spPr>
          <a:xfrm>
            <a:off x="6263640" y="1051560"/>
            <a:ext cx="5481360" cy="36072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4" name="TextBox 9"/>
          <p:cNvSpPr/>
          <p:nvPr/>
        </p:nvSpPr>
        <p:spPr>
          <a:xfrm>
            <a:off x="6400800" y="1134360"/>
            <a:ext cx="520704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300" spc="-1" strike="noStrike">
                <a:solidFill>
                  <a:srgbClr val="1e8e3e"/>
                </a:solidFill>
                <a:latin typeface="Arial"/>
                <a:ea typeface="DejaVu Sans"/>
              </a:rPr>
              <a:t>✓  </a:t>
            </a:r>
            <a:r>
              <a:rPr b="1" lang="en-IN" sz="1300" spc="-1" strike="noStrike">
                <a:solidFill>
                  <a:srgbClr val="1e8e3e"/>
                </a:solidFill>
                <a:latin typeface="Arial"/>
                <a:ea typeface="DejaVu Sans"/>
              </a:rPr>
              <a:t>CORRECT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5" name="TextBox 10"/>
          <p:cNvSpPr/>
          <p:nvPr/>
        </p:nvSpPr>
        <p:spPr>
          <a:xfrm>
            <a:off x="6428160" y="1527120"/>
            <a:ext cx="5152320" cy="26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egress: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toServices: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k8sService: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serviceName: my-database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namespace: my-namespace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toPorts: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ports: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port: "80"   # Pod targetPort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after DNAT, the packet's destination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port IS the Pod's targetPort -- write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that here, not the Service port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46" name="Rectangle 11"/>
          <p:cNvSpPr/>
          <p:nvPr/>
        </p:nvSpPr>
        <p:spPr>
          <a:xfrm>
            <a:off x="502920" y="4526280"/>
            <a:ext cx="11196360" cy="100080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7" name="Rectangle 12"/>
          <p:cNvSpPr/>
          <p:nvPr/>
        </p:nvSpPr>
        <p:spPr>
          <a:xfrm>
            <a:off x="502920" y="4526280"/>
            <a:ext cx="45720" cy="100080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48" name="TextBox 13"/>
          <p:cNvSpPr/>
          <p:nvPr/>
        </p:nvSpPr>
        <p:spPr>
          <a:xfrm>
            <a:off x="685800" y="4796280"/>
            <a:ext cx="10830600" cy="46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450" spc="-1" strike="noStrike">
                <a:solidFill>
                  <a:srgbClr val="0d2436"/>
                </a:solidFill>
                <a:latin typeface="Arial"/>
                <a:ea typeface="DejaVu Sans"/>
              </a:rPr>
              <a:t>toPorts has to match the backend Pod's real targetPort, not the Service's exposed port -- after DNAT, the packet's destination port already is the Pod's port.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49" name="Rectangle 14"/>
          <p:cNvSpPr/>
          <p:nvPr/>
        </p:nvSpPr>
        <p:spPr>
          <a:xfrm>
            <a:off x="0" y="0"/>
            <a:ext cx="12187080" cy="6807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0" name="TextBox 27"/>
          <p:cNvSpPr/>
          <p:nvPr/>
        </p:nvSpPr>
        <p:spPr>
          <a:xfrm>
            <a:off x="502920" y="5580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1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1" name="TextBox 28"/>
          <p:cNvSpPr/>
          <p:nvPr/>
        </p:nvSpPr>
        <p:spPr>
          <a:xfrm>
            <a:off x="502920" y="24804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toServices Selector</a:t>
            </a:r>
            <a:endParaRPr b="0" lang="en-IN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49"/>
          <p:cNvSpPr/>
          <p:nvPr/>
        </p:nvSpPr>
        <p:spPr>
          <a:xfrm>
            <a:off x="502920" y="5472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2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3" name="TextBox 60"/>
          <p:cNvSpPr/>
          <p:nvPr/>
        </p:nvSpPr>
        <p:spPr>
          <a:xfrm>
            <a:off x="502920" y="24696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toServices Instead of toEndpoints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54" name="Rectangle 30"/>
          <p:cNvSpPr/>
          <p:nvPr/>
        </p:nvSpPr>
        <p:spPr>
          <a:xfrm>
            <a:off x="0" y="0"/>
            <a:ext cx="12187080" cy="6807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Box 68"/>
          <p:cNvSpPr/>
          <p:nvPr/>
        </p:nvSpPr>
        <p:spPr>
          <a:xfrm>
            <a:off x="502920" y="5580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1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56" name="TextBox 69"/>
          <p:cNvSpPr/>
          <p:nvPr/>
        </p:nvSpPr>
        <p:spPr>
          <a:xfrm>
            <a:off x="502920" y="24804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toServices Selector</a:t>
            </a:r>
            <a:endParaRPr b="0" lang="en-IN" sz="2200" spc="-1" strike="noStrike">
              <a:latin typeface="Arial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1620000" y="792720"/>
            <a:ext cx="8663040" cy="5684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0" y="0"/>
            <a:ext cx="12188520" cy="68220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Box 2"/>
          <p:cNvSpPr/>
          <p:nvPr/>
        </p:nvSpPr>
        <p:spPr>
          <a:xfrm>
            <a:off x="502920" y="54720"/>
            <a:ext cx="98719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2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60" name="TextBox 3"/>
          <p:cNvSpPr/>
          <p:nvPr/>
        </p:nvSpPr>
        <p:spPr>
          <a:xfrm>
            <a:off x="502920" y="246960"/>
            <a:ext cx="98719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toEndpoints vs ToServices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61" name="Rectangle 4"/>
          <p:cNvSpPr/>
          <p:nvPr/>
        </p:nvSpPr>
        <p:spPr>
          <a:xfrm>
            <a:off x="502920" y="1051560"/>
            <a:ext cx="5482800" cy="32425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2" name="Rectangle 5"/>
          <p:cNvSpPr/>
          <p:nvPr/>
        </p:nvSpPr>
        <p:spPr>
          <a:xfrm>
            <a:off x="502920" y="1051560"/>
            <a:ext cx="5482800" cy="36216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3" name="TextBox 6"/>
          <p:cNvSpPr/>
          <p:nvPr/>
        </p:nvSpPr>
        <p:spPr>
          <a:xfrm>
            <a:off x="640080" y="1134720"/>
            <a:ext cx="5208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300" spc="-1" strike="noStrike">
                <a:solidFill>
                  <a:srgbClr val="c02b2b"/>
                </a:solidFill>
                <a:latin typeface="Arial"/>
                <a:ea typeface="DejaVu Sans"/>
              </a:rPr>
              <a:t>✗  </a:t>
            </a:r>
            <a:r>
              <a:rPr b="1" lang="en-IN" sz="1300" spc="-1" strike="noStrike">
                <a:solidFill>
                  <a:srgbClr val="c02b2b"/>
                </a:solidFill>
                <a:latin typeface="Arial"/>
                <a:ea typeface="DejaVu Sans"/>
              </a:rPr>
              <a:t>WRONG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4" name="TextBox 7"/>
          <p:cNvSpPr/>
          <p:nvPr/>
        </p:nvSpPr>
        <p:spPr>
          <a:xfrm>
            <a:off x="667440" y="1527120"/>
            <a:ext cx="5153760" cy="26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egress: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toServices: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k8sService: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ServiceName: {{ .Release.name }}-pg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namespace: my-namespace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toPorts: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ports: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port: "5432"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Service name is templated per Helm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release -- rename/reinstall, and this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rule silently stops matching anything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65" name="Rectangle 8"/>
          <p:cNvSpPr/>
          <p:nvPr/>
        </p:nvSpPr>
        <p:spPr>
          <a:xfrm>
            <a:off x="6263640" y="1051560"/>
            <a:ext cx="5482800" cy="324252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6" name="Rectangle 9"/>
          <p:cNvSpPr/>
          <p:nvPr/>
        </p:nvSpPr>
        <p:spPr>
          <a:xfrm>
            <a:off x="6263640" y="1051560"/>
            <a:ext cx="5482800" cy="36216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67" name="TextBox 10"/>
          <p:cNvSpPr/>
          <p:nvPr/>
        </p:nvSpPr>
        <p:spPr>
          <a:xfrm>
            <a:off x="6400800" y="1134720"/>
            <a:ext cx="52084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300" spc="-1" strike="noStrike">
                <a:solidFill>
                  <a:srgbClr val="1e8e3e"/>
                </a:solidFill>
                <a:latin typeface="Arial"/>
                <a:ea typeface="DejaVu Sans"/>
              </a:rPr>
              <a:t>✓  </a:t>
            </a:r>
            <a:r>
              <a:rPr b="1" lang="en-IN" sz="1300" spc="-1" strike="noStrike">
                <a:solidFill>
                  <a:srgbClr val="1e8e3e"/>
                </a:solidFill>
                <a:latin typeface="Arial"/>
                <a:ea typeface="DejaVu Sans"/>
              </a:rPr>
              <a:t>CORRECT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8" name="TextBox 11"/>
          <p:cNvSpPr/>
          <p:nvPr/>
        </p:nvSpPr>
        <p:spPr>
          <a:xfrm>
            <a:off x="6428160" y="1527120"/>
            <a:ext cx="5153760" cy="267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egress: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toEndpoints: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matchLabels: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cnpg.io/cluster: oncall-pgsql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k8s:io.kubernetes.pod.namespace: \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my-namespace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toPorts: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ports: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port: "5432"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operator-set label -- stable across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releases, no Service/DNAT layer at all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69" name="Rectangle 12"/>
          <p:cNvSpPr/>
          <p:nvPr/>
        </p:nvSpPr>
        <p:spPr>
          <a:xfrm>
            <a:off x="502920" y="4526280"/>
            <a:ext cx="11197800" cy="100224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0" name="Rectangle 13"/>
          <p:cNvSpPr/>
          <p:nvPr/>
        </p:nvSpPr>
        <p:spPr>
          <a:xfrm>
            <a:off x="502920" y="4526280"/>
            <a:ext cx="47160" cy="100224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1" name="TextBox 14"/>
          <p:cNvSpPr/>
          <p:nvPr/>
        </p:nvSpPr>
        <p:spPr>
          <a:xfrm>
            <a:off x="685800" y="4521240"/>
            <a:ext cx="10832040" cy="101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15000"/>
              </a:lnSpc>
              <a:buNone/>
            </a:pPr>
            <a:r>
              <a:rPr b="0" lang="en-IN" sz="1450" spc="-1" strike="noStrike">
                <a:solidFill>
                  <a:srgbClr val="0d2436"/>
                </a:solidFill>
                <a:latin typeface="Arial"/>
                <a:ea typeface="DejaVu Sans"/>
              </a:rPr>
              <a:t>toServices ties your policy to whatever the Service happens to be named right now -- Helm-templated names change on release rename or reinstall, silently breaking the rule. Even when the name holds steady, you're still exposed to toServices' toPorts quirks (the previous slide). toEndpoints on a stable, operator-set label sidesteps both: the label doesn't move, and there's no Service/DNAT layer to get confused about.</a:t>
            </a:r>
            <a:endParaRPr b="0" lang="en-IN" sz="14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TextBox 1"/>
          <p:cNvSpPr/>
          <p:nvPr/>
        </p:nvSpPr>
        <p:spPr>
          <a:xfrm>
            <a:off x="502920" y="5472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4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73" name="TextBox 2"/>
          <p:cNvSpPr/>
          <p:nvPr/>
        </p:nvSpPr>
        <p:spPr>
          <a:xfrm>
            <a:off x="502920" y="24696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Selecting on Unique-per-Pod Labels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74" name="Rectangle 3"/>
          <p:cNvSpPr/>
          <p:nvPr/>
        </p:nvSpPr>
        <p:spPr>
          <a:xfrm>
            <a:off x="502920" y="1051560"/>
            <a:ext cx="5481360" cy="32410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5" name="Rectangle 4"/>
          <p:cNvSpPr/>
          <p:nvPr/>
        </p:nvSpPr>
        <p:spPr>
          <a:xfrm>
            <a:off x="502920" y="1051560"/>
            <a:ext cx="5481360" cy="36072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6" name="TextBox 5"/>
          <p:cNvSpPr/>
          <p:nvPr/>
        </p:nvSpPr>
        <p:spPr>
          <a:xfrm>
            <a:off x="640080" y="1134360"/>
            <a:ext cx="520704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300" spc="-1" strike="noStrike">
                <a:solidFill>
                  <a:srgbClr val="c02b2b"/>
                </a:solidFill>
                <a:latin typeface="Arial"/>
                <a:ea typeface="DejaVu Sans"/>
              </a:rPr>
              <a:t>✗  </a:t>
            </a:r>
            <a:r>
              <a:rPr b="1" lang="en-IN" sz="1300" spc="-1" strike="noStrike">
                <a:solidFill>
                  <a:srgbClr val="c02b2b"/>
                </a:solidFill>
                <a:latin typeface="Arial"/>
                <a:ea typeface="DejaVu Sans"/>
              </a:rPr>
              <a:t>WRONG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7" name="TextBox 6"/>
          <p:cNvSpPr/>
          <p:nvPr/>
        </p:nvSpPr>
        <p:spPr>
          <a:xfrm>
            <a:off x="667440" y="1527120"/>
            <a:ext cx="5152320" cy="18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endpointSelector: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matchLabels: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statefulset.kubernetes.io/pod-name: \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oncall-pgsql-1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Cilium excludes this label from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identity calculation entirely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selector matches NOTHING, silently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78" name="Rectangle 7"/>
          <p:cNvSpPr/>
          <p:nvPr/>
        </p:nvSpPr>
        <p:spPr>
          <a:xfrm>
            <a:off x="6263640" y="1051560"/>
            <a:ext cx="5481360" cy="32410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79" name="Rectangle 8"/>
          <p:cNvSpPr/>
          <p:nvPr/>
        </p:nvSpPr>
        <p:spPr>
          <a:xfrm>
            <a:off x="6263640" y="1051560"/>
            <a:ext cx="5481360" cy="36072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0" name="TextBox 9"/>
          <p:cNvSpPr/>
          <p:nvPr/>
        </p:nvSpPr>
        <p:spPr>
          <a:xfrm>
            <a:off x="6400800" y="1134360"/>
            <a:ext cx="520704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300" spc="-1" strike="noStrike">
                <a:solidFill>
                  <a:srgbClr val="1e8e3e"/>
                </a:solidFill>
                <a:latin typeface="Arial"/>
                <a:ea typeface="DejaVu Sans"/>
              </a:rPr>
              <a:t>✓  </a:t>
            </a:r>
            <a:r>
              <a:rPr b="1" lang="en-IN" sz="1300" spc="-1" strike="noStrike">
                <a:solidFill>
                  <a:srgbClr val="1e8e3e"/>
                </a:solidFill>
                <a:latin typeface="Arial"/>
                <a:ea typeface="DejaVu Sans"/>
              </a:rPr>
              <a:t>CORRECT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1" name="TextBox 10"/>
          <p:cNvSpPr/>
          <p:nvPr/>
        </p:nvSpPr>
        <p:spPr>
          <a:xfrm>
            <a:off x="6428160" y="1527120"/>
            <a:ext cx="5152320" cy="18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endpointSelector: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matchLabels: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cnpg.io/cluster: oncall-pgsql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k8s:io.kubernetes.pod.namespace: \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my-namespace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shared label across all replicas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-&gt; one stable security identity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82" name="Rectangle 11"/>
          <p:cNvSpPr/>
          <p:nvPr/>
        </p:nvSpPr>
        <p:spPr>
          <a:xfrm>
            <a:off x="502920" y="4526280"/>
            <a:ext cx="11153880" cy="100080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3" name="Rectangle 12"/>
          <p:cNvSpPr/>
          <p:nvPr/>
        </p:nvSpPr>
        <p:spPr>
          <a:xfrm>
            <a:off x="502920" y="4526280"/>
            <a:ext cx="45720" cy="100080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84" name="TextBox 13"/>
          <p:cNvSpPr/>
          <p:nvPr/>
        </p:nvSpPr>
        <p:spPr>
          <a:xfrm>
            <a:off x="685800" y="4774320"/>
            <a:ext cx="107424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15000"/>
              </a:lnSpc>
              <a:buNone/>
            </a:pPr>
            <a:r>
              <a:rPr b="0" lang="en-IN" sz="1450" spc="-1" strike="noStrike">
                <a:solidFill>
                  <a:srgbClr val="0d2436"/>
                </a:solidFill>
                <a:latin typeface="Arial"/>
                <a:ea typeface="DejaVu Sans"/>
              </a:rPr>
              <a:t>Cilium maintains a list of label patterns excluded from identity calculation (to avoid identity churn). Per Pod unique or per deployment revision unique labels are in that exclusion list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85" name="TextBox 15"/>
          <p:cNvSpPr/>
          <p:nvPr/>
        </p:nvSpPr>
        <p:spPr>
          <a:xfrm>
            <a:off x="11155680" y="6473880"/>
            <a:ext cx="63504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IN" sz="1050" spc="-1" strike="noStrike">
                <a:solidFill>
                  <a:srgbClr val="3d4e5c"/>
                </a:solidFill>
                <a:latin typeface="Arial"/>
                <a:ea typeface="DejaVu Sans"/>
              </a:rPr>
              <a:t>10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6" name="Rectangle 16"/>
          <p:cNvSpPr/>
          <p:nvPr/>
        </p:nvSpPr>
        <p:spPr>
          <a:xfrm>
            <a:off x="0" y="0"/>
            <a:ext cx="12187080" cy="6807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TextBox 31"/>
          <p:cNvSpPr/>
          <p:nvPr/>
        </p:nvSpPr>
        <p:spPr>
          <a:xfrm>
            <a:off x="502920" y="5652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3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88" name="TextBox 32"/>
          <p:cNvSpPr/>
          <p:nvPr/>
        </p:nvSpPr>
        <p:spPr>
          <a:xfrm>
            <a:off x="502920" y="24876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Unique-per-Pod Labels</a:t>
            </a:r>
            <a:endParaRPr b="0" lang="en-IN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Box 1"/>
          <p:cNvSpPr/>
          <p:nvPr/>
        </p:nvSpPr>
        <p:spPr>
          <a:xfrm>
            <a:off x="502920" y="5472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5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90" name="TextBox 2"/>
          <p:cNvSpPr/>
          <p:nvPr/>
        </p:nvSpPr>
        <p:spPr>
          <a:xfrm>
            <a:off x="502920" y="24696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toFQDNs Without a DNS Proxy Rule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91" name="Rectangle 3"/>
          <p:cNvSpPr/>
          <p:nvPr/>
        </p:nvSpPr>
        <p:spPr>
          <a:xfrm>
            <a:off x="502920" y="1051560"/>
            <a:ext cx="5481360" cy="32410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2" name="Rectangle 4"/>
          <p:cNvSpPr/>
          <p:nvPr/>
        </p:nvSpPr>
        <p:spPr>
          <a:xfrm>
            <a:off x="502920" y="1051560"/>
            <a:ext cx="5481360" cy="36072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3" name="TextBox 5"/>
          <p:cNvSpPr/>
          <p:nvPr/>
        </p:nvSpPr>
        <p:spPr>
          <a:xfrm>
            <a:off x="640080" y="1134360"/>
            <a:ext cx="520704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300" spc="-1" strike="noStrike">
                <a:solidFill>
                  <a:srgbClr val="c02b2b"/>
                </a:solidFill>
                <a:latin typeface="Arial"/>
                <a:ea typeface="DejaVu Sans"/>
              </a:rPr>
              <a:t>✗  </a:t>
            </a:r>
            <a:r>
              <a:rPr b="1" lang="en-IN" sz="1300" spc="-1" strike="noStrike">
                <a:solidFill>
                  <a:srgbClr val="c02b2b"/>
                </a:solidFill>
                <a:latin typeface="Arial"/>
                <a:ea typeface="DejaVu Sans"/>
              </a:rPr>
              <a:t>WRONG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4" name="TextBox 6"/>
          <p:cNvSpPr/>
          <p:nvPr/>
        </p:nvSpPr>
        <p:spPr>
          <a:xfrm>
            <a:off x="667440" y="1527120"/>
            <a:ext cx="5152320" cy="20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egress: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toFQDNs: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matchName: example.com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toPorts: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ports: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port: "443"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no rules.dns on THIS pod's policy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→ proxy interception never turns on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95" name="Rectangle 7"/>
          <p:cNvSpPr/>
          <p:nvPr/>
        </p:nvSpPr>
        <p:spPr>
          <a:xfrm>
            <a:off x="6263640" y="1051560"/>
            <a:ext cx="5481360" cy="32410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6" name="Rectangle 8"/>
          <p:cNvSpPr/>
          <p:nvPr/>
        </p:nvSpPr>
        <p:spPr>
          <a:xfrm>
            <a:off x="6263640" y="1051560"/>
            <a:ext cx="5481360" cy="36072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197" name="TextBox 9"/>
          <p:cNvSpPr/>
          <p:nvPr/>
        </p:nvSpPr>
        <p:spPr>
          <a:xfrm>
            <a:off x="6400800" y="1134360"/>
            <a:ext cx="520704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300" spc="-1" strike="noStrike">
                <a:solidFill>
                  <a:srgbClr val="1e8e3e"/>
                </a:solidFill>
                <a:latin typeface="Arial"/>
                <a:ea typeface="DejaVu Sans"/>
              </a:rPr>
              <a:t>✓  </a:t>
            </a:r>
            <a:r>
              <a:rPr b="1" lang="en-IN" sz="1300" spc="-1" strike="noStrike">
                <a:solidFill>
                  <a:srgbClr val="1e8e3e"/>
                </a:solidFill>
                <a:latin typeface="Arial"/>
                <a:ea typeface="DejaVu Sans"/>
              </a:rPr>
              <a:t>CORRECT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8" name="TextBox 10"/>
          <p:cNvSpPr/>
          <p:nvPr/>
        </p:nvSpPr>
        <p:spPr>
          <a:xfrm>
            <a:off x="6428160" y="1527120"/>
            <a:ext cx="5152320" cy="20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egress: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toEndpoints: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matchLabels: {k8s-app: kube-dns}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toPorts: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ports: [{port: "53", protocol: ANY}]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rules: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dns: [{matchPattern: "*"}]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toFQDNs: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matchName: example.com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99" name="Rectangle 11"/>
          <p:cNvSpPr/>
          <p:nvPr/>
        </p:nvSpPr>
        <p:spPr>
          <a:xfrm>
            <a:off x="502920" y="4526280"/>
            <a:ext cx="11196360" cy="100080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0" name="Rectangle 12"/>
          <p:cNvSpPr/>
          <p:nvPr/>
        </p:nvSpPr>
        <p:spPr>
          <a:xfrm>
            <a:off x="502920" y="4526280"/>
            <a:ext cx="45720" cy="100080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01" name="TextBox 13"/>
          <p:cNvSpPr/>
          <p:nvPr/>
        </p:nvSpPr>
        <p:spPr>
          <a:xfrm>
            <a:off x="685800" y="4774320"/>
            <a:ext cx="10830600" cy="50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15000"/>
              </a:lnSpc>
              <a:buNone/>
            </a:pPr>
            <a:r>
              <a:rPr b="0" lang="en-IN" sz="1450" spc="-1" strike="noStrike">
                <a:solidFill>
                  <a:srgbClr val="0d2436"/>
                </a:solidFill>
                <a:latin typeface="Arial"/>
                <a:ea typeface="DejaVu Sans"/>
              </a:rPr>
              <a:t>DNS proxy activation is per-endpoint. A default-deny policy's DNS rule doesn't activate it for this pod. Without it, IP↔FQDN mapping never lands in this pod's cache.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202" name="TextBox 15"/>
          <p:cNvSpPr/>
          <p:nvPr/>
        </p:nvSpPr>
        <p:spPr>
          <a:xfrm>
            <a:off x="11155680" y="6473880"/>
            <a:ext cx="63504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r">
              <a:lnSpc>
                <a:spcPct val="100000"/>
              </a:lnSpc>
              <a:buNone/>
            </a:pPr>
            <a:r>
              <a:rPr b="0" lang="en-IN" sz="1050" spc="-1" strike="noStrike">
                <a:solidFill>
                  <a:srgbClr val="3d4e5c"/>
                </a:solidFill>
                <a:latin typeface="Arial"/>
                <a:ea typeface="DejaVu Sans"/>
              </a:rPr>
              <a:t>11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3" name="Rectangle 17"/>
          <p:cNvSpPr/>
          <p:nvPr/>
        </p:nvSpPr>
        <p:spPr>
          <a:xfrm>
            <a:off x="0" y="0"/>
            <a:ext cx="12187080" cy="6807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Box 33"/>
          <p:cNvSpPr/>
          <p:nvPr/>
        </p:nvSpPr>
        <p:spPr>
          <a:xfrm>
            <a:off x="502920" y="5652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4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5" name="TextBox 34"/>
          <p:cNvSpPr/>
          <p:nvPr/>
        </p:nvSpPr>
        <p:spPr>
          <a:xfrm>
            <a:off x="502920" y="24876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toFQDNS</a:t>
            </a:r>
            <a:endParaRPr b="0" lang="en-IN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Box 29"/>
          <p:cNvSpPr/>
          <p:nvPr/>
        </p:nvSpPr>
        <p:spPr>
          <a:xfrm>
            <a:off x="502920" y="5472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5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07" name="TextBox 30"/>
          <p:cNvSpPr/>
          <p:nvPr/>
        </p:nvSpPr>
        <p:spPr>
          <a:xfrm>
            <a:off x="502920" y="24696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toFQDNs Without a DNS Proxy Rule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08" name="Rectangle 29"/>
          <p:cNvSpPr/>
          <p:nvPr/>
        </p:nvSpPr>
        <p:spPr>
          <a:xfrm>
            <a:off x="0" y="0"/>
            <a:ext cx="12187080" cy="6807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Box 67"/>
          <p:cNvSpPr/>
          <p:nvPr/>
        </p:nvSpPr>
        <p:spPr>
          <a:xfrm>
            <a:off x="502920" y="5652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4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0" name="TextBox 70"/>
          <p:cNvSpPr/>
          <p:nvPr/>
        </p:nvSpPr>
        <p:spPr>
          <a:xfrm>
            <a:off x="502920" y="24876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toFQDNS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11" name=""/>
          <p:cNvSpPr/>
          <p:nvPr/>
        </p:nvSpPr>
        <p:spPr>
          <a:xfrm>
            <a:off x="1436760" y="963000"/>
            <a:ext cx="9716040" cy="5893200"/>
          </a:xfrm>
          <a:prstGeom prst="rect">
            <a:avLst/>
          </a:prstGeom>
          <a:solidFill>
            <a:srgbClr val="1c1c1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spec: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endpointSelector: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{{- if $config.excludedPods }}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	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...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{{- else }}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{}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{{- end }}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enableDefaultDeny: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egress: true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ingress: true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# Allow only DNS egress to kube-dns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egress: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- toEndpoints: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- matchLabels: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io.kubernetes.pod.namespace: kube-system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k8s-app: kube-dns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toPorts: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- ports: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  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- port: "53"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protocol: ANY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  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rules: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    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dns:</a:t>
            </a:r>
            <a:endParaRPr b="0" lang="en-IN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          </a:t>
            </a:r>
            <a:r>
              <a:rPr b="0" lang="en-IN" sz="1500" spc="-1" strike="noStrike">
                <a:solidFill>
                  <a:srgbClr val="ffffff"/>
                </a:solidFill>
                <a:latin typeface="Arial"/>
                <a:ea typeface="DejaVu Sans"/>
              </a:rPr>
              <a:t>- matchPattern: "*"</a:t>
            </a:r>
            <a:endParaRPr b="0" lang="en-IN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1"/>
          <p:cNvSpPr/>
          <p:nvPr/>
        </p:nvSpPr>
        <p:spPr>
          <a:xfrm>
            <a:off x="502920" y="5472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6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13" name="TextBox 2"/>
          <p:cNvSpPr/>
          <p:nvPr/>
        </p:nvSpPr>
        <p:spPr>
          <a:xfrm>
            <a:off x="502920" y="24696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Default-Deny Surprises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14" name="Rectangle 3"/>
          <p:cNvSpPr/>
          <p:nvPr/>
        </p:nvSpPr>
        <p:spPr>
          <a:xfrm>
            <a:off x="502920" y="1051560"/>
            <a:ext cx="5481360" cy="32410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5" name="Rectangle 4"/>
          <p:cNvSpPr/>
          <p:nvPr/>
        </p:nvSpPr>
        <p:spPr>
          <a:xfrm>
            <a:off x="502920" y="1051560"/>
            <a:ext cx="5481360" cy="36072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6" name="TextBox 5"/>
          <p:cNvSpPr/>
          <p:nvPr/>
        </p:nvSpPr>
        <p:spPr>
          <a:xfrm>
            <a:off x="640080" y="1134360"/>
            <a:ext cx="520704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300" spc="-1" strike="noStrike">
                <a:solidFill>
                  <a:srgbClr val="c02b2b"/>
                </a:solidFill>
                <a:latin typeface="Arial"/>
                <a:ea typeface="DejaVu Sans"/>
              </a:rPr>
              <a:t>✗  </a:t>
            </a:r>
            <a:r>
              <a:rPr b="1" lang="en-IN" sz="1300" spc="-1" strike="noStrike">
                <a:solidFill>
                  <a:srgbClr val="c02b2b"/>
                </a:solidFill>
                <a:latin typeface="Arial"/>
                <a:ea typeface="DejaVu Sans"/>
              </a:rPr>
              <a:t>WRONG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17" name="TextBox 6"/>
          <p:cNvSpPr/>
          <p:nvPr/>
        </p:nvSpPr>
        <p:spPr>
          <a:xfrm>
            <a:off x="667440" y="1527120"/>
            <a:ext cx="5152320" cy="159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Applying ANY CiliumNetworkPolicy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flips this endpoint from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"enforcement: never" to "always"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Result: DNS breaks, kubelet health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checks get dropped, pods restart —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none of it was explicitly denied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218" name="Rectangle 7"/>
          <p:cNvSpPr/>
          <p:nvPr/>
        </p:nvSpPr>
        <p:spPr>
          <a:xfrm>
            <a:off x="6263640" y="1051560"/>
            <a:ext cx="5481360" cy="324108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19" name="Rectangle 8"/>
          <p:cNvSpPr/>
          <p:nvPr/>
        </p:nvSpPr>
        <p:spPr>
          <a:xfrm>
            <a:off x="6263640" y="1051560"/>
            <a:ext cx="5481360" cy="36072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0" name="TextBox 9"/>
          <p:cNvSpPr/>
          <p:nvPr/>
        </p:nvSpPr>
        <p:spPr>
          <a:xfrm>
            <a:off x="6400800" y="1134360"/>
            <a:ext cx="520704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300" spc="-1" strike="noStrike">
                <a:solidFill>
                  <a:srgbClr val="1e8e3e"/>
                </a:solidFill>
                <a:latin typeface="Arial"/>
                <a:ea typeface="DejaVu Sans"/>
              </a:rPr>
              <a:t>✓  </a:t>
            </a:r>
            <a:r>
              <a:rPr b="1" lang="en-IN" sz="1300" spc="-1" strike="noStrike">
                <a:solidFill>
                  <a:srgbClr val="1e8e3e"/>
                </a:solidFill>
                <a:latin typeface="Arial"/>
                <a:ea typeface="DejaVu Sans"/>
              </a:rPr>
              <a:t>CORRECT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1" name="TextBox 10"/>
          <p:cNvSpPr/>
          <p:nvPr/>
        </p:nvSpPr>
        <p:spPr>
          <a:xfrm>
            <a:off x="6428160" y="1527120"/>
            <a:ext cx="5152320" cy="22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Treat default-deny as day-1 design,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not an afterthought: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1. write a default deny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2. allow DNS egress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3. allow kubelet health-check probes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4. allow kube-apiserver where needed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5. allow ingress from operator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6. roll out in audit/monitor mode first and check hubble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7. THEN add app-specific rules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222" name="Rectangle 11"/>
          <p:cNvSpPr/>
          <p:nvPr/>
        </p:nvSpPr>
        <p:spPr>
          <a:xfrm>
            <a:off x="502920" y="4526280"/>
            <a:ext cx="11196360" cy="100080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3" name="Rectangle 12"/>
          <p:cNvSpPr/>
          <p:nvPr/>
        </p:nvSpPr>
        <p:spPr>
          <a:xfrm>
            <a:off x="502920" y="4526280"/>
            <a:ext cx="45720" cy="100080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24" name="TextBox 13"/>
          <p:cNvSpPr/>
          <p:nvPr/>
        </p:nvSpPr>
        <p:spPr>
          <a:xfrm>
            <a:off x="685800" y="4900680"/>
            <a:ext cx="108306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15000"/>
              </a:lnSpc>
              <a:buNone/>
            </a:pPr>
            <a:r>
              <a:rPr b="0" lang="en-IN" sz="1450" spc="-1" strike="noStrike">
                <a:solidFill>
                  <a:srgbClr val="0d2436"/>
                </a:solidFill>
                <a:latin typeface="Arial"/>
                <a:ea typeface="DejaVu Sans"/>
              </a:rPr>
              <a:t>The very first CNP that selects a pod silently switches it from "no enforcement" to "default deny."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225" name="TextBox 35"/>
          <p:cNvSpPr/>
          <p:nvPr/>
        </p:nvSpPr>
        <p:spPr>
          <a:xfrm>
            <a:off x="502920" y="5580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5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26" name="Rectangle 15"/>
          <p:cNvSpPr/>
          <p:nvPr/>
        </p:nvSpPr>
        <p:spPr>
          <a:xfrm>
            <a:off x="0" y="0"/>
            <a:ext cx="12187080" cy="6807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Box 26"/>
          <p:cNvSpPr/>
          <p:nvPr/>
        </p:nvSpPr>
        <p:spPr>
          <a:xfrm>
            <a:off x="502920" y="248400"/>
            <a:ext cx="98704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Default-Deny Surprises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28" name="TextBox 36"/>
          <p:cNvSpPr/>
          <p:nvPr/>
        </p:nvSpPr>
        <p:spPr>
          <a:xfrm>
            <a:off x="502920" y="57240"/>
            <a:ext cx="987048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5</a:t>
            </a:r>
            <a:endParaRPr b="0" lang="en-IN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1"/>
          <p:cNvSpPr/>
          <p:nvPr/>
        </p:nvSpPr>
        <p:spPr>
          <a:xfrm>
            <a:off x="502920" y="54720"/>
            <a:ext cx="987084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6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30" name="TextBox 2"/>
          <p:cNvSpPr/>
          <p:nvPr/>
        </p:nvSpPr>
        <p:spPr>
          <a:xfrm>
            <a:off x="502920" y="246960"/>
            <a:ext cx="987084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Assuming LoadBalancer Traffic Is Pre-Authorized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31" name="Rectangle 3"/>
          <p:cNvSpPr/>
          <p:nvPr/>
        </p:nvSpPr>
        <p:spPr>
          <a:xfrm>
            <a:off x="502920" y="1051560"/>
            <a:ext cx="5481720" cy="324144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2" name="Rectangle 4"/>
          <p:cNvSpPr/>
          <p:nvPr/>
        </p:nvSpPr>
        <p:spPr>
          <a:xfrm>
            <a:off x="502920" y="1051560"/>
            <a:ext cx="5481720" cy="36108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3" name="TextBox 5"/>
          <p:cNvSpPr/>
          <p:nvPr/>
        </p:nvSpPr>
        <p:spPr>
          <a:xfrm>
            <a:off x="640080" y="1134360"/>
            <a:ext cx="520740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300" spc="-1" strike="noStrike">
                <a:solidFill>
                  <a:srgbClr val="c02b2b"/>
                </a:solidFill>
                <a:latin typeface="Arial"/>
                <a:ea typeface="DejaVu Sans"/>
              </a:rPr>
              <a:t>✗  </a:t>
            </a:r>
            <a:r>
              <a:rPr b="1" lang="en-IN" sz="1300" spc="-1" strike="noStrike">
                <a:solidFill>
                  <a:srgbClr val="c02b2b"/>
                </a:solidFill>
                <a:latin typeface="Arial"/>
                <a:ea typeface="DejaVu Sans"/>
              </a:rPr>
              <a:t>WRONG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4" name="TextBox 6"/>
          <p:cNvSpPr/>
          <p:nvPr/>
        </p:nvSpPr>
        <p:spPr>
          <a:xfrm>
            <a:off x="667440" y="1527120"/>
            <a:ext cx="5152680" cy="22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ingress: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fromEndpoints: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matchLabels: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app: frontend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traffic actually arrives via an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internet-facing Service/LB -- no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fromEntities/fromCIDR rule admits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it, so it's dropped right after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the Service DNAT step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235" name="Rectangle 7"/>
          <p:cNvSpPr/>
          <p:nvPr/>
        </p:nvSpPr>
        <p:spPr>
          <a:xfrm>
            <a:off x="6263640" y="1051560"/>
            <a:ext cx="5481720" cy="324144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6" name="Rectangle 8"/>
          <p:cNvSpPr/>
          <p:nvPr/>
        </p:nvSpPr>
        <p:spPr>
          <a:xfrm>
            <a:off x="6263640" y="1051560"/>
            <a:ext cx="5481720" cy="36108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37" name="TextBox 9"/>
          <p:cNvSpPr/>
          <p:nvPr/>
        </p:nvSpPr>
        <p:spPr>
          <a:xfrm>
            <a:off x="6400800" y="1134360"/>
            <a:ext cx="520740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300" spc="-1" strike="noStrike">
                <a:solidFill>
                  <a:srgbClr val="1e8e3e"/>
                </a:solidFill>
                <a:latin typeface="Arial"/>
                <a:ea typeface="DejaVu Sans"/>
              </a:rPr>
              <a:t>✓  </a:t>
            </a:r>
            <a:r>
              <a:rPr b="1" lang="en-IN" sz="1300" spc="-1" strike="noStrike">
                <a:solidFill>
                  <a:srgbClr val="1e8e3e"/>
                </a:solidFill>
                <a:latin typeface="Arial"/>
                <a:ea typeface="DejaVu Sans"/>
              </a:rPr>
              <a:t>CORRECT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8" name="TextBox 10"/>
          <p:cNvSpPr/>
          <p:nvPr/>
        </p:nvSpPr>
        <p:spPr>
          <a:xfrm>
            <a:off x="6428160" y="1527120"/>
            <a:ext cx="5152680" cy="224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ingress: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fromEndpoints: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matchLabels: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app: frontend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fromEntities: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  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- world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Service DNAT and policy enforcement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are two separate, sequential steps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-- passing the LB grants nothing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239" name="Rectangle 11"/>
          <p:cNvSpPr/>
          <p:nvPr/>
        </p:nvSpPr>
        <p:spPr>
          <a:xfrm>
            <a:off x="502920" y="4526280"/>
            <a:ext cx="11196720" cy="100116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0" name="Rectangle 12"/>
          <p:cNvSpPr/>
          <p:nvPr/>
        </p:nvSpPr>
        <p:spPr>
          <a:xfrm>
            <a:off x="502920" y="4526280"/>
            <a:ext cx="46080" cy="100116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1" name="TextBox 13"/>
          <p:cNvSpPr/>
          <p:nvPr/>
        </p:nvSpPr>
        <p:spPr>
          <a:xfrm>
            <a:off x="685800" y="4647240"/>
            <a:ext cx="108309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15000"/>
              </a:lnSpc>
              <a:buNone/>
            </a:pPr>
            <a:r>
              <a:rPr b="0" lang="en-IN" sz="1450" spc="-1" strike="noStrike">
                <a:solidFill>
                  <a:srgbClr val="0d2436"/>
                </a:solidFill>
                <a:latin typeface="Arial"/>
                <a:ea typeface="DejaVu Sans"/>
              </a:rPr>
              <a:t>A packet can pass Service load-balancing successfully and still get dropped immediately after by policy. The policy engine only ever sees world → Pod identity -- it doesn't know or care that traffic arrived via an internet facing Service, so that path needs its own explicit rule.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242" name="TextBox 14"/>
          <p:cNvSpPr/>
          <p:nvPr/>
        </p:nvSpPr>
        <p:spPr>
          <a:xfrm>
            <a:off x="502920" y="6473880"/>
            <a:ext cx="731052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lang="en-IN" sz="1050" spc="-1" strike="noStrike">
                <a:solidFill>
                  <a:srgbClr val="3d4e5c"/>
                </a:solidFill>
                <a:latin typeface="Arial"/>
                <a:ea typeface="DejaVu Sans"/>
              </a:rPr>
              <a:t>Anti-Patterns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3" name="Rectangle 18"/>
          <p:cNvSpPr/>
          <p:nvPr/>
        </p:nvSpPr>
        <p:spPr>
          <a:xfrm>
            <a:off x="0" y="0"/>
            <a:ext cx="12187080" cy="6807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Box 37"/>
          <p:cNvSpPr/>
          <p:nvPr/>
        </p:nvSpPr>
        <p:spPr>
          <a:xfrm>
            <a:off x="502920" y="56520"/>
            <a:ext cx="987084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6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5" name="TextBox 38"/>
          <p:cNvSpPr/>
          <p:nvPr/>
        </p:nvSpPr>
        <p:spPr>
          <a:xfrm>
            <a:off x="502920" y="248760"/>
            <a:ext cx="987084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Assuming LoadBalancer Traffic Is Pre-Authorized</a:t>
            </a:r>
            <a:endParaRPr b="0" lang="en-IN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Box 1"/>
          <p:cNvSpPr/>
          <p:nvPr/>
        </p:nvSpPr>
        <p:spPr>
          <a:xfrm>
            <a:off x="502920" y="54720"/>
            <a:ext cx="987084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7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47" name="TextBox 2"/>
          <p:cNvSpPr/>
          <p:nvPr/>
        </p:nvSpPr>
        <p:spPr>
          <a:xfrm>
            <a:off x="502920" y="246960"/>
            <a:ext cx="987084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Expecting Instant Enforcement on Label Changes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48" name="Rectangle 3"/>
          <p:cNvSpPr/>
          <p:nvPr/>
        </p:nvSpPr>
        <p:spPr>
          <a:xfrm>
            <a:off x="502920" y="1051560"/>
            <a:ext cx="5481720" cy="324144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49" name="Rectangle 4"/>
          <p:cNvSpPr/>
          <p:nvPr/>
        </p:nvSpPr>
        <p:spPr>
          <a:xfrm>
            <a:off x="502920" y="1051560"/>
            <a:ext cx="5481720" cy="361080"/>
          </a:xfrm>
          <a:prstGeom prst="rect">
            <a:avLst/>
          </a:prstGeom>
          <a:solidFill>
            <a:srgbClr val="fcee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0" name="TextBox 5"/>
          <p:cNvSpPr/>
          <p:nvPr/>
        </p:nvSpPr>
        <p:spPr>
          <a:xfrm>
            <a:off x="640080" y="1134360"/>
            <a:ext cx="520740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300" spc="-1" strike="noStrike">
                <a:solidFill>
                  <a:srgbClr val="c02b2b"/>
                </a:solidFill>
                <a:latin typeface="Arial"/>
                <a:ea typeface="DejaVu Sans"/>
              </a:rPr>
              <a:t>✗  </a:t>
            </a:r>
            <a:r>
              <a:rPr b="1" lang="en-IN" sz="1300" spc="-1" strike="noStrike">
                <a:solidFill>
                  <a:srgbClr val="c02b2b"/>
                </a:solidFill>
                <a:latin typeface="Arial"/>
                <a:ea typeface="DejaVu Sans"/>
              </a:rPr>
              <a:t>WRONG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1" name="TextBox 6"/>
          <p:cNvSpPr/>
          <p:nvPr/>
        </p:nvSpPr>
        <p:spPr>
          <a:xfrm>
            <a:off x="667440" y="1527120"/>
            <a:ext cx="5152680" cy="181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relabel a pod mid-incident to cut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it off from a sensitive backend...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kubectl label pod x \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  </a:t>
            </a: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role=quarantined --overwrite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...and assume the already-open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connection to that backend is now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blocked. It may not be, yet.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252" name="Rectangle 7"/>
          <p:cNvSpPr/>
          <p:nvPr/>
        </p:nvSpPr>
        <p:spPr>
          <a:xfrm>
            <a:off x="6263640" y="1051560"/>
            <a:ext cx="5481720" cy="3241440"/>
          </a:xfrm>
          <a:prstGeom prst="rect">
            <a:avLst/>
          </a:prstGeom>
          <a:solidFill>
            <a:srgbClr val="f4f6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3" name="Rectangle 8"/>
          <p:cNvSpPr/>
          <p:nvPr/>
        </p:nvSpPr>
        <p:spPr>
          <a:xfrm>
            <a:off x="6263640" y="1051560"/>
            <a:ext cx="5481720" cy="361080"/>
          </a:xfrm>
          <a:prstGeom prst="rect">
            <a:avLst/>
          </a:prstGeom>
          <a:solidFill>
            <a:srgbClr val="eaf7e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4" name="TextBox 9"/>
          <p:cNvSpPr/>
          <p:nvPr/>
        </p:nvSpPr>
        <p:spPr>
          <a:xfrm>
            <a:off x="6400800" y="1134360"/>
            <a:ext cx="520740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300" spc="-1" strike="noStrike">
                <a:solidFill>
                  <a:srgbClr val="1e8e3e"/>
                </a:solidFill>
                <a:latin typeface="Arial"/>
                <a:ea typeface="DejaVu Sans"/>
              </a:rPr>
              <a:t>✓  </a:t>
            </a:r>
            <a:r>
              <a:rPr b="1" lang="en-IN" sz="1300" spc="-1" strike="noStrike">
                <a:solidFill>
                  <a:srgbClr val="1e8e3e"/>
                </a:solidFill>
                <a:latin typeface="Arial"/>
                <a:ea typeface="DejaVu Sans"/>
              </a:rPr>
              <a:t>CORRECT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5" name="TextBox 10"/>
          <p:cNvSpPr/>
          <p:nvPr/>
        </p:nvSpPr>
        <p:spPr>
          <a:xfrm>
            <a:off x="6428160" y="1527120"/>
            <a:ext cx="5152680" cy="203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treat relabeling as eventually-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consistent, not instant: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 - new identity =&gt; endpoint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   regenerates policy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 - enforcement is largely tied to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   connection-setup time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 - to force a cut: kill the pod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   or the connection, don't just</a:t>
            </a:r>
            <a:endParaRPr b="0" lang="en-IN" sz="1350" spc="-1" strike="noStrike">
              <a:latin typeface="Arial"/>
            </a:endParaRPr>
          </a:p>
          <a:p>
            <a:pPr>
              <a:lnSpc>
                <a:spcPct val="105000"/>
              </a:lnSpc>
              <a:buNone/>
            </a:pPr>
            <a:r>
              <a:rPr b="0" lang="en-IN" sz="1350" spc="-1" strike="noStrike">
                <a:solidFill>
                  <a:srgbClr val="0d2436"/>
                </a:solidFill>
                <a:latin typeface="Consolas"/>
                <a:ea typeface="DejaVu Sans"/>
              </a:rPr>
              <a:t>#    relabel and assume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256" name="Rectangle 11"/>
          <p:cNvSpPr/>
          <p:nvPr/>
        </p:nvSpPr>
        <p:spPr>
          <a:xfrm>
            <a:off x="502920" y="4526280"/>
            <a:ext cx="11196720" cy="1001160"/>
          </a:xfrm>
          <a:prstGeom prst="rect">
            <a:avLst/>
          </a:prstGeom>
          <a:solidFill>
            <a:srgbClr val="fceae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7" name="Rectangle 12"/>
          <p:cNvSpPr/>
          <p:nvPr/>
        </p:nvSpPr>
        <p:spPr>
          <a:xfrm>
            <a:off x="502920" y="4526280"/>
            <a:ext cx="46080" cy="1001160"/>
          </a:xfrm>
          <a:prstGeom prst="rect">
            <a:avLst/>
          </a:prstGeom>
          <a:solidFill>
            <a:srgbClr val="d83749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58" name="TextBox 13"/>
          <p:cNvSpPr/>
          <p:nvPr/>
        </p:nvSpPr>
        <p:spPr>
          <a:xfrm>
            <a:off x="685800" y="4647240"/>
            <a:ext cx="108309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15000"/>
              </a:lnSpc>
              <a:buNone/>
            </a:pPr>
            <a:r>
              <a:rPr b="0" lang="en-IN" sz="1450" spc="-1" strike="noStrike">
                <a:solidFill>
                  <a:srgbClr val="0d2436"/>
                </a:solidFill>
                <a:latin typeface="Arial"/>
                <a:ea typeface="DejaVu Sans"/>
              </a:rPr>
              <a:t>Changing a Pod's labels recomputes its identity, but already-established connections aren't necessarily re-evaluated against policy instantly -- enforcement is largely at connection-setup time. Exact behavior is version- and config-dependent, so verify, don't assume.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259" name="Rectangle 19"/>
          <p:cNvSpPr/>
          <p:nvPr/>
        </p:nvSpPr>
        <p:spPr>
          <a:xfrm>
            <a:off x="3960" y="0"/>
            <a:ext cx="12187080" cy="6807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Box 39"/>
          <p:cNvSpPr/>
          <p:nvPr/>
        </p:nvSpPr>
        <p:spPr>
          <a:xfrm>
            <a:off x="502920" y="56520"/>
            <a:ext cx="987084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7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1" name="TextBox 40"/>
          <p:cNvSpPr/>
          <p:nvPr/>
        </p:nvSpPr>
        <p:spPr>
          <a:xfrm>
            <a:off x="502920" y="248760"/>
            <a:ext cx="987084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Expecting Instant Enforcement on Label Changes</a:t>
            </a:r>
            <a:endParaRPr b="0" lang="en-IN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Rectangle 1"/>
          <p:cNvSpPr/>
          <p:nvPr/>
        </p:nvSpPr>
        <p:spPr>
          <a:xfrm>
            <a:off x="0" y="0"/>
            <a:ext cx="12189240" cy="68292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3" name="TextBox 2"/>
          <p:cNvSpPr/>
          <p:nvPr/>
        </p:nvSpPr>
        <p:spPr>
          <a:xfrm>
            <a:off x="502920" y="54720"/>
            <a:ext cx="987264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8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64" name="TextBox 3"/>
          <p:cNvSpPr/>
          <p:nvPr/>
        </p:nvSpPr>
        <p:spPr>
          <a:xfrm>
            <a:off x="502920" y="246960"/>
            <a:ext cx="987264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ffffff"/>
                </a:solidFill>
                <a:latin typeface="Arial"/>
                <a:ea typeface="DejaVu Sans"/>
              </a:rPr>
              <a:t>Death by a Thousand NetPols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265" name="TextBox 4"/>
          <p:cNvSpPr/>
          <p:nvPr/>
        </p:nvSpPr>
        <p:spPr>
          <a:xfrm>
            <a:off x="502920" y="1097280"/>
            <a:ext cx="5072040" cy="4662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18000"/>
              </a:lnSpc>
              <a:spcAft>
                <a:spcPts val="1500"/>
              </a:spcAft>
              <a:buNone/>
            </a:pPr>
            <a:r>
              <a:rPr b="0" lang="en-IN" sz="1550" spc="-1" strike="noStrike">
                <a:solidFill>
                  <a:srgbClr val="3d4e5c"/>
                </a:solidFill>
                <a:latin typeface="Arial"/>
                <a:ea typeface="DejaVu Sans"/>
              </a:rPr>
              <a:t>—  </a:t>
            </a:r>
            <a:r>
              <a:rPr b="0" lang="en-IN" sz="1550" spc="-1" strike="noStrike">
                <a:solidFill>
                  <a:srgbClr val="3d4e5c"/>
                </a:solidFill>
                <a:latin typeface="Arial"/>
                <a:ea typeface="DejaVu Sans"/>
              </a:rPr>
              <a:t>Real namespaces aren't one-app-per-ns -- a shared ns like checkout might run 6, 8, 12+ services owned by different teams</a:t>
            </a:r>
            <a:endParaRPr b="0" lang="en-IN" sz="1550" spc="-1" strike="noStrike">
              <a:latin typeface="Arial"/>
            </a:endParaRPr>
          </a:p>
          <a:p>
            <a:pPr>
              <a:lnSpc>
                <a:spcPct val="118000"/>
              </a:lnSpc>
              <a:spcAft>
                <a:spcPts val="1500"/>
              </a:spcAft>
              <a:buNone/>
            </a:pPr>
            <a:r>
              <a:rPr b="0" lang="en-IN" sz="1550" spc="-1" strike="noStrike">
                <a:solidFill>
                  <a:srgbClr val="3d4e5c"/>
                </a:solidFill>
                <a:latin typeface="Arial"/>
                <a:ea typeface="DejaVu Sans"/>
              </a:rPr>
              <a:t>—  </a:t>
            </a:r>
            <a:r>
              <a:rPr b="0" lang="en-IN" sz="1550" spc="-1" strike="noStrike">
                <a:solidFill>
                  <a:srgbClr val="3d4e5c"/>
                </a:solidFill>
                <a:latin typeface="Arial"/>
                <a:ea typeface="DejaVu Sans"/>
              </a:rPr>
              <a:t>Every team bolts on their own CiliumNetworkPolicy whenever they need a new path open -- no shared owner, no central review</a:t>
            </a:r>
            <a:endParaRPr b="0" lang="en-IN" sz="1550" spc="-1" strike="noStrike">
              <a:latin typeface="Arial"/>
            </a:endParaRPr>
          </a:p>
          <a:p>
            <a:pPr>
              <a:lnSpc>
                <a:spcPct val="118000"/>
              </a:lnSpc>
              <a:spcAft>
                <a:spcPts val="1500"/>
              </a:spcAft>
              <a:buNone/>
            </a:pPr>
            <a:r>
              <a:rPr b="0" lang="en-IN" sz="1550" spc="-1" strike="noStrike">
                <a:solidFill>
                  <a:srgbClr val="3d4e5c"/>
                </a:solidFill>
                <a:latin typeface="Arial"/>
                <a:ea typeface="DejaVu Sans"/>
              </a:rPr>
              <a:t>—  </a:t>
            </a:r>
            <a:r>
              <a:rPr b="0" lang="en-IN" sz="1550" spc="-1" strike="noStrike">
                <a:solidFill>
                  <a:srgbClr val="3d4e5c"/>
                </a:solidFill>
                <a:latin typeface="Arial"/>
                <a:ea typeface="DejaVu Sans"/>
              </a:rPr>
              <a:t>Policies only ever compose additively -- nobody's rule technically conflicts with anyone else's, they just keep piling up</a:t>
            </a:r>
            <a:endParaRPr b="0" lang="en-IN" sz="1550" spc="-1" strike="noStrike">
              <a:latin typeface="Arial"/>
            </a:endParaRPr>
          </a:p>
          <a:p>
            <a:pPr>
              <a:lnSpc>
                <a:spcPct val="118000"/>
              </a:lnSpc>
              <a:spcAft>
                <a:spcPts val="1500"/>
              </a:spcAft>
              <a:buNone/>
            </a:pPr>
            <a:r>
              <a:rPr b="0" lang="en-IN" sz="1550" spc="-1" strike="noStrike">
                <a:solidFill>
                  <a:srgbClr val="3d4e5c"/>
                </a:solidFill>
                <a:latin typeface="Arial"/>
                <a:ea typeface="DejaVu Sans"/>
              </a:rPr>
              <a:t>—  </a:t>
            </a:r>
            <a:r>
              <a:rPr b="0" lang="en-IN" sz="1550" spc="-1" strike="noStrike">
                <a:solidFill>
                  <a:srgbClr val="3d4e5c"/>
                </a:solidFill>
                <a:latin typeface="Arial"/>
                <a:ea typeface="DejaVu Sans"/>
              </a:rPr>
              <a:t>Debugging a drop stops being “read the policy” and becomes “grep every CNP that selects this namespace and hope you find the one that's wrong”</a:t>
            </a:r>
            <a:endParaRPr b="0" lang="en-IN" sz="1550" spc="-1" strike="noStrike">
              <a:latin typeface="Arial"/>
            </a:endParaRPr>
          </a:p>
          <a:p>
            <a:pPr>
              <a:lnSpc>
                <a:spcPct val="118000"/>
              </a:lnSpc>
              <a:spcAft>
                <a:spcPts val="1500"/>
              </a:spcAft>
              <a:buNone/>
            </a:pPr>
            <a:r>
              <a:rPr b="0" lang="en-IN" sz="1550" spc="-1" strike="noStrike">
                <a:solidFill>
                  <a:srgbClr val="3d4e5c"/>
                </a:solidFill>
                <a:latin typeface="Arial"/>
                <a:ea typeface="DejaVu Sans"/>
              </a:rPr>
              <a:t>—  </a:t>
            </a:r>
            <a:r>
              <a:rPr b="0" lang="en-IN" sz="1550" spc="-1" strike="noStrike">
                <a:solidFill>
                  <a:srgbClr val="3d4e5c"/>
                </a:solidFill>
                <a:latin typeface="Arial"/>
                <a:ea typeface="DejaVu Sans"/>
              </a:rPr>
              <a:t>The fix is centralizing NetPol authoring under one roof -- but naive centralization has its own trap. Next slide.</a:t>
            </a:r>
            <a:endParaRPr b="0" lang="en-IN" sz="1550" spc="-1" strike="noStrike">
              <a:latin typeface="Arial"/>
            </a:endParaRPr>
          </a:p>
        </p:txBody>
      </p:sp>
      <p:sp>
        <p:nvSpPr>
          <p:cNvPr id="266" name="Rectangle 5"/>
          <p:cNvSpPr/>
          <p:nvPr/>
        </p:nvSpPr>
        <p:spPr>
          <a:xfrm>
            <a:off x="5897880" y="1143000"/>
            <a:ext cx="1021320" cy="362880"/>
          </a:xfrm>
          <a:prstGeom prst="rect">
            <a:avLst/>
          </a:prstGeom>
          <a:solidFill>
            <a:srgbClr val="fceeee"/>
          </a:solidFill>
          <a:ln w="12700">
            <a:solidFill>
              <a:srgbClr val="c02b2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7" name="TextBox 6"/>
          <p:cNvSpPr/>
          <p:nvPr/>
        </p:nvSpPr>
        <p:spPr>
          <a:xfrm>
            <a:off x="6203520" y="1256760"/>
            <a:ext cx="41112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900" spc="-1" strike="noStrike">
                <a:solidFill>
                  <a:srgbClr val="c02b2b"/>
                </a:solidFill>
                <a:latin typeface="Consolas"/>
                <a:ea typeface="DejaVu Sans"/>
              </a:rPr>
              <a:t>team-a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68" name="Rectangle 7"/>
          <p:cNvSpPr/>
          <p:nvPr/>
        </p:nvSpPr>
        <p:spPr>
          <a:xfrm>
            <a:off x="7045560" y="1143000"/>
            <a:ext cx="1021320" cy="362880"/>
          </a:xfrm>
          <a:prstGeom prst="rect">
            <a:avLst/>
          </a:prstGeom>
          <a:solidFill>
            <a:srgbClr val="fceeee"/>
          </a:solidFill>
          <a:ln w="12700">
            <a:solidFill>
              <a:srgbClr val="c02b2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69" name="TextBox 8"/>
          <p:cNvSpPr/>
          <p:nvPr/>
        </p:nvSpPr>
        <p:spPr>
          <a:xfrm>
            <a:off x="7248240" y="1256760"/>
            <a:ext cx="61704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900" spc="-1" strike="noStrike">
                <a:solidFill>
                  <a:srgbClr val="c02b2b"/>
                </a:solidFill>
                <a:latin typeface="Consolas"/>
                <a:ea typeface="DejaVu Sans"/>
              </a:rPr>
              <a:t>team-b-in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70" name="Rectangle 9"/>
          <p:cNvSpPr/>
          <p:nvPr/>
        </p:nvSpPr>
        <p:spPr>
          <a:xfrm>
            <a:off x="8192880" y="1143000"/>
            <a:ext cx="1021320" cy="362880"/>
          </a:xfrm>
          <a:prstGeom prst="rect">
            <a:avLst/>
          </a:prstGeom>
          <a:solidFill>
            <a:srgbClr val="fceeee"/>
          </a:solidFill>
          <a:ln w="12700">
            <a:solidFill>
              <a:srgbClr val="c02b2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1" name="TextBox 10"/>
          <p:cNvSpPr/>
          <p:nvPr/>
        </p:nvSpPr>
        <p:spPr>
          <a:xfrm>
            <a:off x="8395560" y="1256760"/>
            <a:ext cx="61704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900" spc="-1" strike="noStrike">
                <a:solidFill>
                  <a:srgbClr val="c02b2b"/>
                </a:solidFill>
                <a:latin typeface="Consolas"/>
                <a:ea typeface="DejaVu Sans"/>
              </a:rPr>
              <a:t>legacy’23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72" name="Rectangle 11"/>
          <p:cNvSpPr/>
          <p:nvPr/>
        </p:nvSpPr>
        <p:spPr>
          <a:xfrm>
            <a:off x="9340560" y="1143000"/>
            <a:ext cx="1021320" cy="362880"/>
          </a:xfrm>
          <a:prstGeom prst="rect">
            <a:avLst/>
          </a:prstGeom>
          <a:solidFill>
            <a:srgbClr val="fceeee"/>
          </a:solidFill>
          <a:ln w="12700">
            <a:solidFill>
              <a:srgbClr val="c02b2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3" name="TextBox 12"/>
          <p:cNvSpPr/>
          <p:nvPr/>
        </p:nvSpPr>
        <p:spPr>
          <a:xfrm>
            <a:off x="9543240" y="1256760"/>
            <a:ext cx="61704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900" spc="-1" strike="noStrike">
                <a:solidFill>
                  <a:srgbClr val="c02b2b"/>
                </a:solidFill>
                <a:latin typeface="Consolas"/>
                <a:ea typeface="DejaVu Sans"/>
              </a:rPr>
              <a:t>team-c-eg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74" name="Rectangle 13"/>
          <p:cNvSpPr/>
          <p:nvPr/>
        </p:nvSpPr>
        <p:spPr>
          <a:xfrm>
            <a:off x="10488240" y="1143000"/>
            <a:ext cx="1021320" cy="362880"/>
          </a:xfrm>
          <a:prstGeom prst="rect">
            <a:avLst/>
          </a:prstGeom>
          <a:solidFill>
            <a:srgbClr val="fceeee"/>
          </a:solidFill>
          <a:ln w="12700">
            <a:solidFill>
              <a:srgbClr val="c02b2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75" name="TextBox 14"/>
          <p:cNvSpPr/>
          <p:nvPr/>
        </p:nvSpPr>
        <p:spPr>
          <a:xfrm>
            <a:off x="10931040" y="1256760"/>
            <a:ext cx="136800" cy="1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900" spc="-1" strike="noStrike">
                <a:solidFill>
                  <a:srgbClr val="c02b2b"/>
                </a:solidFill>
                <a:latin typeface="Consolas"/>
                <a:ea typeface="DejaVu Sans"/>
              </a:rPr>
              <a:t>??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76" name="Connector 15"/>
          <p:cNvSpPr/>
          <p:nvPr/>
        </p:nvSpPr>
        <p:spPr>
          <a:xfrm>
            <a:off x="6409800" y="1508760"/>
            <a:ext cx="360" cy="457200"/>
          </a:xfrm>
          <a:prstGeom prst="line">
            <a:avLst/>
          </a:prstGeom>
          <a:ln w="12700">
            <a:solidFill>
              <a:srgbClr val="e3b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77" name="Connector 16"/>
          <p:cNvSpPr/>
          <p:nvPr/>
        </p:nvSpPr>
        <p:spPr>
          <a:xfrm>
            <a:off x="7557480" y="1508760"/>
            <a:ext cx="360" cy="457200"/>
          </a:xfrm>
          <a:prstGeom prst="line">
            <a:avLst/>
          </a:prstGeom>
          <a:ln w="12700">
            <a:solidFill>
              <a:srgbClr val="e3b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78" name="Connector 17"/>
          <p:cNvSpPr/>
          <p:nvPr/>
        </p:nvSpPr>
        <p:spPr>
          <a:xfrm>
            <a:off x="8704800" y="1508760"/>
            <a:ext cx="360" cy="457200"/>
          </a:xfrm>
          <a:prstGeom prst="line">
            <a:avLst/>
          </a:prstGeom>
          <a:ln w="12700">
            <a:solidFill>
              <a:srgbClr val="e3b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79" name="Connector 18"/>
          <p:cNvSpPr/>
          <p:nvPr/>
        </p:nvSpPr>
        <p:spPr>
          <a:xfrm>
            <a:off x="9852480" y="1508760"/>
            <a:ext cx="360" cy="457200"/>
          </a:xfrm>
          <a:prstGeom prst="line">
            <a:avLst/>
          </a:prstGeom>
          <a:ln w="12700">
            <a:solidFill>
              <a:srgbClr val="e3b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80" name="Connector 19"/>
          <p:cNvSpPr/>
          <p:nvPr/>
        </p:nvSpPr>
        <p:spPr>
          <a:xfrm>
            <a:off x="11000160" y="1508760"/>
            <a:ext cx="360" cy="457200"/>
          </a:xfrm>
          <a:prstGeom prst="line">
            <a:avLst/>
          </a:prstGeom>
          <a:ln w="12700">
            <a:solidFill>
              <a:srgbClr val="e3b0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/>
        </p:style>
      </p:sp>
      <p:sp>
        <p:nvSpPr>
          <p:cNvPr id="281" name="Rectangle 20"/>
          <p:cNvSpPr/>
          <p:nvPr/>
        </p:nvSpPr>
        <p:spPr>
          <a:xfrm>
            <a:off x="6035040" y="1965960"/>
            <a:ext cx="5620680" cy="2511720"/>
          </a:xfrm>
          <a:prstGeom prst="rect">
            <a:avLst/>
          </a:prstGeom>
          <a:solidFill>
            <a:srgbClr val="f7f8f9"/>
          </a:solidFill>
          <a:ln w="12700">
            <a:solidFill>
              <a:srgbClr val="e3e7e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2" name="TextBox 21"/>
          <p:cNvSpPr/>
          <p:nvPr/>
        </p:nvSpPr>
        <p:spPr>
          <a:xfrm>
            <a:off x="6217920" y="2039040"/>
            <a:ext cx="274032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200" spc="-1" strike="noStrike">
                <a:solidFill>
                  <a:srgbClr val="3d4e5c"/>
                </a:solidFill>
                <a:latin typeface="Consolas"/>
                <a:ea typeface="DejaVu Sans"/>
              </a:rPr>
              <a:t>ns: checkout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83" name="Rectangle 22"/>
          <p:cNvSpPr/>
          <p:nvPr/>
        </p:nvSpPr>
        <p:spPr>
          <a:xfrm>
            <a:off x="6263640" y="2423160"/>
            <a:ext cx="2466000" cy="77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4" name="TextBox 23"/>
          <p:cNvSpPr/>
          <p:nvPr/>
        </p:nvSpPr>
        <p:spPr>
          <a:xfrm>
            <a:off x="7257960" y="2712240"/>
            <a:ext cx="47808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1300" spc="-1" strike="noStrike">
                <a:solidFill>
                  <a:srgbClr val="0d2436"/>
                </a:solidFill>
                <a:latin typeface="Arial"/>
                <a:ea typeface="DejaVu Sans"/>
              </a:rPr>
              <a:t>App A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5" name="Rectangle 24"/>
          <p:cNvSpPr/>
          <p:nvPr/>
        </p:nvSpPr>
        <p:spPr>
          <a:xfrm>
            <a:off x="9006840" y="2423160"/>
            <a:ext cx="2466000" cy="77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6" name="TextBox 25"/>
          <p:cNvSpPr/>
          <p:nvPr/>
        </p:nvSpPr>
        <p:spPr>
          <a:xfrm>
            <a:off x="9998280" y="2712240"/>
            <a:ext cx="48420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1300" spc="-1" strike="noStrike">
                <a:solidFill>
                  <a:srgbClr val="0d2436"/>
                </a:solidFill>
                <a:latin typeface="Arial"/>
                <a:ea typeface="DejaVu Sans"/>
              </a:rPr>
              <a:t>App B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7" name="Rectangle 26"/>
          <p:cNvSpPr/>
          <p:nvPr/>
        </p:nvSpPr>
        <p:spPr>
          <a:xfrm>
            <a:off x="6263640" y="3429000"/>
            <a:ext cx="2466000" cy="77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88" name="TextBox 27"/>
          <p:cNvSpPr/>
          <p:nvPr/>
        </p:nvSpPr>
        <p:spPr>
          <a:xfrm>
            <a:off x="7255080" y="3718080"/>
            <a:ext cx="48420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1300" spc="-1" strike="noStrike">
                <a:solidFill>
                  <a:srgbClr val="0d2436"/>
                </a:solidFill>
                <a:latin typeface="Arial"/>
                <a:ea typeface="DejaVu Sans"/>
              </a:rPr>
              <a:t>App C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9" name="Rectangle 28"/>
          <p:cNvSpPr/>
          <p:nvPr/>
        </p:nvSpPr>
        <p:spPr>
          <a:xfrm>
            <a:off x="9006840" y="3429000"/>
            <a:ext cx="2466000" cy="77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b"/>
            </a:solidFill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</p:sp>
      <p:sp>
        <p:nvSpPr>
          <p:cNvPr id="290" name="TextBox 29"/>
          <p:cNvSpPr/>
          <p:nvPr/>
        </p:nvSpPr>
        <p:spPr>
          <a:xfrm>
            <a:off x="9998280" y="3718080"/>
            <a:ext cx="484200" cy="19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ctr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1300" spc="-1" strike="noStrike">
                <a:solidFill>
                  <a:srgbClr val="0d2436"/>
                </a:solidFill>
                <a:latin typeface="Arial"/>
                <a:ea typeface="DejaVu Sans"/>
              </a:rPr>
              <a:t>App 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1" name="TextBox 30"/>
          <p:cNvSpPr/>
          <p:nvPr/>
        </p:nvSpPr>
        <p:spPr>
          <a:xfrm>
            <a:off x="6035040" y="4663440"/>
            <a:ext cx="56206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1" lang="en-IN" sz="1500" spc="-1" strike="noStrike">
                <a:solidFill>
                  <a:srgbClr val="c02b2b"/>
                </a:solidFill>
                <a:latin typeface="Arial"/>
                <a:ea typeface="DejaVu Sans"/>
              </a:rPr>
              <a:t>❓  </a:t>
            </a:r>
            <a:r>
              <a:rPr b="1" lang="en-IN" sz="1500" spc="-1" strike="noStrike">
                <a:solidFill>
                  <a:srgbClr val="c02b2b"/>
                </a:solidFill>
                <a:latin typeface="Arial"/>
                <a:ea typeface="DejaVu Sans"/>
              </a:rPr>
              <a:t>which rule dropped this packet?</a:t>
            </a:r>
            <a:endParaRPr b="0" lang="en-IN" sz="15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Rectangle 1"/>
          <p:cNvSpPr/>
          <p:nvPr/>
        </p:nvSpPr>
        <p:spPr>
          <a:xfrm>
            <a:off x="0" y="0"/>
            <a:ext cx="12189240" cy="68292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Box 2"/>
          <p:cNvSpPr/>
          <p:nvPr/>
        </p:nvSpPr>
        <p:spPr>
          <a:xfrm>
            <a:off x="502920" y="54720"/>
            <a:ext cx="987264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8 · THE FIX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294" name="TextBox 3"/>
          <p:cNvSpPr/>
          <p:nvPr/>
        </p:nvSpPr>
        <p:spPr>
          <a:xfrm>
            <a:off x="502920" y="246960"/>
            <a:ext cx="9872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ffffff"/>
                </a:solidFill>
                <a:latin typeface="Arial"/>
                <a:ea typeface="DejaVu Sans"/>
              </a:rPr>
              <a:t>Centralize the Chart, Render Conditionally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295" name="Rounded Rectangle 61"/>
          <p:cNvSpPr/>
          <p:nvPr/>
        </p:nvSpPr>
        <p:spPr>
          <a:xfrm>
            <a:off x="5074920" y="960120"/>
            <a:ext cx="2466000" cy="545760"/>
          </a:xfrm>
          <a:prstGeom prst="roundRect">
            <a:avLst>
              <a:gd name="adj" fmla="val 12000"/>
            </a:avLst>
          </a:prstGeom>
          <a:solidFill>
            <a:srgbClr val="f1e7f6"/>
          </a:solidFill>
          <a:ln w="15875">
            <a:solidFill>
              <a:srgbClr val="542671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96" name="TextBox 62"/>
          <p:cNvSpPr/>
          <p:nvPr/>
        </p:nvSpPr>
        <p:spPr>
          <a:xfrm>
            <a:off x="5074920" y="1106280"/>
            <a:ext cx="246600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5000"/>
              </a:lnSpc>
              <a:buNone/>
            </a:pPr>
            <a:r>
              <a:rPr b="1" lang="en-IN" sz="1600" spc="-1" strike="noStrike">
                <a:solidFill>
                  <a:srgbClr val="542671"/>
                </a:solidFill>
                <a:latin typeface="Arial"/>
                <a:ea typeface="DejaVu Sans"/>
              </a:rPr>
              <a:t>KubeAid Addons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97" name="Connector 63"/>
          <p:cNvSpPr/>
          <p:nvPr/>
        </p:nvSpPr>
        <p:spPr>
          <a:xfrm flipH="1">
            <a:off x="3200400" y="1508760"/>
            <a:ext cx="2788920" cy="457200"/>
          </a:xfrm>
          <a:prstGeom prst="line">
            <a:avLst/>
          </a:prstGeom>
          <a:ln w="19050">
            <a:solidFill>
              <a:srgbClr val="3d4e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98" name="Connector 64"/>
          <p:cNvSpPr/>
          <p:nvPr/>
        </p:nvSpPr>
        <p:spPr>
          <a:xfrm>
            <a:off x="6629400" y="1508760"/>
            <a:ext cx="2788920" cy="685800"/>
          </a:xfrm>
          <a:prstGeom prst="line">
            <a:avLst/>
          </a:prstGeom>
          <a:ln w="19050">
            <a:solidFill>
              <a:srgbClr val="3d4e5c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299" name="Rectangle 65"/>
          <p:cNvSpPr/>
          <p:nvPr/>
        </p:nvSpPr>
        <p:spPr>
          <a:xfrm>
            <a:off x="1371600" y="1965960"/>
            <a:ext cx="3654720" cy="1871640"/>
          </a:xfrm>
          <a:prstGeom prst="rect">
            <a:avLst/>
          </a:prstGeom>
          <a:solidFill>
            <a:srgbClr val="ff6d6d"/>
          </a:solidFill>
          <a:ln w="15875">
            <a:solidFill>
              <a:srgbClr val="3d4e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0" name="TextBox 66"/>
          <p:cNvSpPr/>
          <p:nvPr/>
        </p:nvSpPr>
        <p:spPr>
          <a:xfrm>
            <a:off x="1600200" y="2109600"/>
            <a:ext cx="319752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1" lang="en-IN" sz="1400" spc="-1" strike="noStrike">
                <a:solidFill>
                  <a:srgbClr val="0d2436"/>
                </a:solidFill>
                <a:latin typeface="Arial"/>
                <a:ea typeface="DejaVu Sans"/>
              </a:rPr>
              <a:t>Network Policies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01" name="TextBox 67"/>
          <p:cNvSpPr/>
          <p:nvPr/>
        </p:nvSpPr>
        <p:spPr>
          <a:xfrm>
            <a:off x="1645920" y="2468880"/>
            <a:ext cx="3197520" cy="133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35000"/>
              </a:lnSpc>
              <a:buNone/>
            </a:pPr>
            <a:r>
              <a:rPr b="0" lang="en-IN" sz="1300" spc="-1" strike="noStrike">
                <a:solidFill>
                  <a:srgbClr val="3d4e5c"/>
                </a:solidFill>
                <a:latin typeface="Consolas"/>
                <a:ea typeface="DejaVu Sans"/>
              </a:rPr>
              <a:t>–  </a:t>
            </a:r>
            <a:r>
              <a:rPr b="0" lang="en-IN" sz="1300" spc="-1" strike="noStrike">
                <a:solidFill>
                  <a:srgbClr val="3d4e5c"/>
                </a:solidFill>
                <a:latin typeface="Consolas"/>
                <a:ea typeface="DejaVu Sans"/>
              </a:rPr>
              <a:t>App 1 netpol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</a:pPr>
            <a:r>
              <a:rPr b="0" lang="en-IN" sz="1300" spc="-1" strike="noStrike">
                <a:solidFill>
                  <a:srgbClr val="3d4e5c"/>
                </a:solidFill>
                <a:latin typeface="Consolas"/>
                <a:ea typeface="DejaVu Sans"/>
              </a:rPr>
              <a:t>–  </a:t>
            </a:r>
            <a:r>
              <a:rPr b="0" lang="en-IN" sz="1300" spc="-1" strike="noStrike">
                <a:solidFill>
                  <a:srgbClr val="3d4e5c"/>
                </a:solidFill>
                <a:latin typeface="Consolas"/>
                <a:ea typeface="DejaVu Sans"/>
              </a:rPr>
              <a:t>App 2 netpol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</a:pPr>
            <a:r>
              <a:rPr b="0" lang="en-IN" sz="1300" spc="-1" strike="noStrike">
                <a:solidFill>
                  <a:srgbClr val="3d4e5c"/>
                </a:solidFill>
                <a:latin typeface="Consolas"/>
                <a:ea typeface="DejaVu Sans"/>
              </a:rPr>
              <a:t>–  </a:t>
            </a:r>
            <a:r>
              <a:rPr b="0" lang="en-IN" sz="1300" spc="-1" strike="noStrike">
                <a:solidFill>
                  <a:srgbClr val="3d4e5c"/>
                </a:solidFill>
                <a:latin typeface="Consolas"/>
                <a:ea typeface="DejaVu Sans"/>
              </a:rPr>
              <a:t>App 3 netpol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</a:pPr>
            <a:r>
              <a:rPr b="0" lang="en-IN" sz="1300" spc="-1" strike="noStrike">
                <a:solidFill>
                  <a:srgbClr val="3d4e5c"/>
                </a:solidFill>
                <a:latin typeface="Consolas"/>
                <a:ea typeface="DejaVu Sans"/>
              </a:rPr>
              <a:t>–  </a:t>
            </a:r>
            <a:r>
              <a:rPr b="0" lang="en-IN" sz="1300" spc="-1" strike="noStrike">
                <a:solidFill>
                  <a:srgbClr val="3d4e5c"/>
                </a:solidFill>
                <a:latin typeface="Consolas"/>
                <a:ea typeface="DejaVu Sans"/>
              </a:rPr>
              <a:t>App 4 netpol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</a:pPr>
            <a:r>
              <a:rPr b="0" lang="en-IN" sz="1300" spc="-1" strike="noStrike">
                <a:solidFill>
                  <a:srgbClr val="3d4e5c"/>
                </a:solidFill>
                <a:latin typeface="Consolas"/>
                <a:ea typeface="DejaVu Sans"/>
              </a:rPr>
              <a:t>–  </a:t>
            </a:r>
            <a:r>
              <a:rPr b="0" lang="en-IN" sz="1300" spc="-1" strike="noStrike">
                <a:solidFill>
                  <a:srgbClr val="3d4e5c"/>
                </a:solidFill>
                <a:latin typeface="Consolas"/>
                <a:ea typeface="DejaVu Sans"/>
              </a:rPr>
              <a:t>App 5 netpol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2" name="Rectangle 68"/>
          <p:cNvSpPr/>
          <p:nvPr/>
        </p:nvSpPr>
        <p:spPr>
          <a:xfrm>
            <a:off x="8275320" y="2194560"/>
            <a:ext cx="2283120" cy="545760"/>
          </a:xfrm>
          <a:prstGeom prst="rect">
            <a:avLst/>
          </a:prstGeom>
          <a:solidFill>
            <a:srgbClr val="729fcf"/>
          </a:solidFill>
          <a:ln w="15875">
            <a:solidFill>
              <a:srgbClr val="3d4e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3" name="TextBox 69"/>
          <p:cNvSpPr/>
          <p:nvPr/>
        </p:nvSpPr>
        <p:spPr>
          <a:xfrm>
            <a:off x="8275320" y="2356560"/>
            <a:ext cx="228312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5000"/>
              </a:lnSpc>
              <a:buNone/>
            </a:pPr>
            <a:r>
              <a:rPr b="1" lang="en-IN" sz="1400" spc="-1" strike="noStrike">
                <a:solidFill>
                  <a:srgbClr val="0d2436"/>
                </a:solidFill>
                <a:latin typeface="Arial"/>
                <a:ea typeface="DejaVu Sans"/>
              </a:rPr>
              <a:t>default deny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04" name="Rectangle 70"/>
          <p:cNvSpPr/>
          <p:nvPr/>
        </p:nvSpPr>
        <p:spPr>
          <a:xfrm>
            <a:off x="502920" y="4434840"/>
            <a:ext cx="5209200" cy="1414440"/>
          </a:xfrm>
          <a:prstGeom prst="rect">
            <a:avLst/>
          </a:prstGeom>
          <a:solidFill>
            <a:srgbClr val="729fcf"/>
          </a:solidFill>
          <a:ln w="15875">
            <a:solidFill>
              <a:srgbClr val="3d4e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5" name="Rectangle 71"/>
          <p:cNvSpPr/>
          <p:nvPr/>
        </p:nvSpPr>
        <p:spPr>
          <a:xfrm>
            <a:off x="6172200" y="4434840"/>
            <a:ext cx="5209200" cy="1414440"/>
          </a:xfrm>
          <a:prstGeom prst="rect">
            <a:avLst/>
          </a:prstGeom>
          <a:solidFill>
            <a:srgbClr val="729fcf"/>
          </a:solidFill>
          <a:ln w="15875">
            <a:solidFill>
              <a:srgbClr val="3d4e5c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6" name="TextBox 72"/>
          <p:cNvSpPr/>
          <p:nvPr/>
        </p:nvSpPr>
        <p:spPr>
          <a:xfrm>
            <a:off x="502920" y="5537520"/>
            <a:ext cx="520920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5000"/>
              </a:lnSpc>
              <a:buNone/>
            </a:pPr>
            <a:r>
              <a:rPr b="1" lang="en-IN" sz="1300" spc="-1" strike="noStrike">
                <a:solidFill>
                  <a:srgbClr val="0d2436"/>
                </a:solidFill>
                <a:latin typeface="Consolas"/>
                <a:ea typeface="DejaVu Sans"/>
              </a:rPr>
              <a:t>namespace x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7" name="TextBox 73"/>
          <p:cNvSpPr/>
          <p:nvPr/>
        </p:nvSpPr>
        <p:spPr>
          <a:xfrm>
            <a:off x="6172200" y="5537520"/>
            <a:ext cx="520920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5000"/>
              </a:lnSpc>
              <a:buNone/>
            </a:pPr>
            <a:r>
              <a:rPr b="1" lang="en-IN" sz="1300" spc="-1" strike="noStrike">
                <a:solidFill>
                  <a:srgbClr val="0d2436"/>
                </a:solidFill>
                <a:latin typeface="Consolas"/>
                <a:ea typeface="DejaVu Sans"/>
              </a:rPr>
              <a:t>namespace 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08" name="Rectangle 74"/>
          <p:cNvSpPr/>
          <p:nvPr/>
        </p:nvSpPr>
        <p:spPr>
          <a:xfrm>
            <a:off x="811440" y="4663440"/>
            <a:ext cx="1323000" cy="454320"/>
          </a:xfrm>
          <a:prstGeom prst="rect">
            <a:avLst/>
          </a:prstGeom>
          <a:solidFill>
            <a:srgbClr val="ff6d6d"/>
          </a:solidFill>
          <a:ln w="158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09" name="TextBox 75"/>
          <p:cNvSpPr/>
          <p:nvPr/>
        </p:nvSpPr>
        <p:spPr>
          <a:xfrm>
            <a:off x="811440" y="4787640"/>
            <a:ext cx="1323000" cy="207000"/>
          </a:xfrm>
          <a:prstGeom prst="rect">
            <a:avLst/>
          </a:prstGeom>
          <a:solidFill>
            <a:srgbClr val="ff6d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5000"/>
              </a:lnSpc>
              <a:buNone/>
            </a:pPr>
            <a:r>
              <a:rPr b="1" lang="en-IN" sz="1300" spc="-1" strike="noStrike">
                <a:solidFill>
                  <a:srgbClr val="0d2436"/>
                </a:solidFill>
                <a:latin typeface="Arial"/>
                <a:ea typeface="DejaVu Sans"/>
              </a:rPr>
              <a:t>App 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0" name="Rectangle 76"/>
          <p:cNvSpPr/>
          <p:nvPr/>
        </p:nvSpPr>
        <p:spPr>
          <a:xfrm>
            <a:off x="2446200" y="4663440"/>
            <a:ext cx="1323000" cy="454320"/>
          </a:xfrm>
          <a:prstGeom prst="rect">
            <a:avLst/>
          </a:prstGeom>
          <a:solidFill>
            <a:srgbClr val="ff6d6d"/>
          </a:solidFill>
          <a:ln w="158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1" name="TextBox 77"/>
          <p:cNvSpPr/>
          <p:nvPr/>
        </p:nvSpPr>
        <p:spPr>
          <a:xfrm>
            <a:off x="2446200" y="4787640"/>
            <a:ext cx="1323000" cy="207000"/>
          </a:xfrm>
          <a:prstGeom prst="rect">
            <a:avLst/>
          </a:prstGeom>
          <a:solidFill>
            <a:srgbClr val="ff6d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5000"/>
              </a:lnSpc>
              <a:buNone/>
            </a:pPr>
            <a:r>
              <a:rPr b="1" lang="en-IN" sz="1300" spc="-1" strike="noStrike">
                <a:solidFill>
                  <a:srgbClr val="0d2436"/>
                </a:solidFill>
                <a:latin typeface="Arial"/>
                <a:ea typeface="DejaVu Sans"/>
              </a:rPr>
              <a:t>App 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2" name="Rectangle 78"/>
          <p:cNvSpPr/>
          <p:nvPr/>
        </p:nvSpPr>
        <p:spPr>
          <a:xfrm>
            <a:off x="4080600" y="4663440"/>
            <a:ext cx="1323000" cy="454320"/>
          </a:xfrm>
          <a:prstGeom prst="rect">
            <a:avLst/>
          </a:prstGeom>
          <a:solidFill>
            <a:srgbClr val="ff6d6d"/>
          </a:solidFill>
          <a:ln w="158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3" name="TextBox 79"/>
          <p:cNvSpPr/>
          <p:nvPr/>
        </p:nvSpPr>
        <p:spPr>
          <a:xfrm>
            <a:off x="4080600" y="4787640"/>
            <a:ext cx="132300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5000"/>
              </a:lnSpc>
              <a:buNone/>
            </a:pPr>
            <a:r>
              <a:rPr b="1" lang="en-IN" sz="1300" spc="-1" strike="noStrike">
                <a:solidFill>
                  <a:srgbClr val="0d2436"/>
                </a:solidFill>
                <a:latin typeface="Arial"/>
                <a:ea typeface="DejaVu Sans"/>
              </a:rPr>
              <a:t>App 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4" name="Rectangle 80"/>
          <p:cNvSpPr/>
          <p:nvPr/>
        </p:nvSpPr>
        <p:spPr>
          <a:xfrm>
            <a:off x="7025760" y="4663440"/>
            <a:ext cx="1323000" cy="454320"/>
          </a:xfrm>
          <a:prstGeom prst="rect">
            <a:avLst/>
          </a:prstGeom>
          <a:solidFill>
            <a:srgbClr val="ff6d6d"/>
          </a:solidFill>
          <a:ln w="158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5" name="TextBox 81"/>
          <p:cNvSpPr/>
          <p:nvPr/>
        </p:nvSpPr>
        <p:spPr>
          <a:xfrm>
            <a:off x="7025760" y="4787640"/>
            <a:ext cx="1323000" cy="20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5000"/>
              </a:lnSpc>
              <a:buNone/>
            </a:pPr>
            <a:r>
              <a:rPr b="1" lang="en-IN" sz="1300" spc="-1" strike="noStrike">
                <a:solidFill>
                  <a:srgbClr val="0d2436"/>
                </a:solidFill>
                <a:latin typeface="Arial"/>
                <a:ea typeface="DejaVu Sans"/>
              </a:rPr>
              <a:t>App 4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6" name="Rectangle 82"/>
          <p:cNvSpPr/>
          <p:nvPr/>
        </p:nvSpPr>
        <p:spPr>
          <a:xfrm>
            <a:off x="9204840" y="4663440"/>
            <a:ext cx="1323000" cy="454320"/>
          </a:xfrm>
          <a:prstGeom prst="rect">
            <a:avLst/>
          </a:prstGeom>
          <a:solidFill>
            <a:srgbClr val="ff6d6d"/>
          </a:solidFill>
          <a:ln w="15875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317" name="TextBox 83"/>
          <p:cNvSpPr/>
          <p:nvPr/>
        </p:nvSpPr>
        <p:spPr>
          <a:xfrm>
            <a:off x="9204840" y="4787640"/>
            <a:ext cx="1323000" cy="207000"/>
          </a:xfrm>
          <a:prstGeom prst="rect">
            <a:avLst/>
          </a:prstGeom>
          <a:solidFill>
            <a:srgbClr val="ff6d6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>
              <a:lnSpc>
                <a:spcPct val="105000"/>
              </a:lnSpc>
              <a:buNone/>
            </a:pPr>
            <a:r>
              <a:rPr b="1" lang="en-IN" sz="1300" spc="-1" strike="noStrike">
                <a:solidFill>
                  <a:srgbClr val="0d2436"/>
                </a:solidFill>
                <a:latin typeface="Arial"/>
                <a:ea typeface="DejaVu Sans"/>
              </a:rPr>
              <a:t>App 5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18" name="Connector 84"/>
          <p:cNvSpPr/>
          <p:nvPr/>
        </p:nvSpPr>
        <p:spPr>
          <a:xfrm flipH="1">
            <a:off x="1474200" y="3840120"/>
            <a:ext cx="446040" cy="823320"/>
          </a:xfrm>
          <a:prstGeom prst="line">
            <a:avLst/>
          </a:prstGeom>
          <a:ln w="22225">
            <a:solidFill>
              <a:srgbClr val="d8374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19" name="Connector 85"/>
          <p:cNvSpPr/>
          <p:nvPr/>
        </p:nvSpPr>
        <p:spPr>
          <a:xfrm>
            <a:off x="2651760" y="3840120"/>
            <a:ext cx="457200" cy="823320"/>
          </a:xfrm>
          <a:prstGeom prst="line">
            <a:avLst/>
          </a:prstGeom>
          <a:ln w="22225">
            <a:solidFill>
              <a:srgbClr val="d8374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20" name="Connector 86"/>
          <p:cNvSpPr/>
          <p:nvPr/>
        </p:nvSpPr>
        <p:spPr>
          <a:xfrm>
            <a:off x="3383280" y="3840120"/>
            <a:ext cx="1360080" cy="823320"/>
          </a:xfrm>
          <a:prstGeom prst="line">
            <a:avLst/>
          </a:prstGeom>
          <a:ln w="22225">
            <a:solidFill>
              <a:srgbClr val="d8374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21" name="Connector 87"/>
          <p:cNvSpPr/>
          <p:nvPr/>
        </p:nvSpPr>
        <p:spPr>
          <a:xfrm>
            <a:off x="4114800" y="3840120"/>
            <a:ext cx="3573720" cy="823320"/>
          </a:xfrm>
          <a:prstGeom prst="line">
            <a:avLst/>
          </a:prstGeom>
          <a:ln w="22225">
            <a:solidFill>
              <a:srgbClr val="d8374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22" name="Connector 88"/>
          <p:cNvSpPr/>
          <p:nvPr/>
        </p:nvSpPr>
        <p:spPr>
          <a:xfrm>
            <a:off x="4846320" y="3840120"/>
            <a:ext cx="5021280" cy="823320"/>
          </a:xfrm>
          <a:prstGeom prst="line">
            <a:avLst/>
          </a:prstGeom>
          <a:ln w="22225">
            <a:solidFill>
              <a:srgbClr val="d83749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23" name="Connector 89"/>
          <p:cNvSpPr/>
          <p:nvPr/>
        </p:nvSpPr>
        <p:spPr>
          <a:xfrm flipH="1">
            <a:off x="2691720" y="2743200"/>
            <a:ext cx="6269040" cy="1691640"/>
          </a:xfrm>
          <a:prstGeom prst="line">
            <a:avLst/>
          </a:prstGeom>
          <a:ln w="25400">
            <a:solidFill>
              <a:srgbClr val="2e86c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24" name="Connector 90"/>
          <p:cNvSpPr/>
          <p:nvPr/>
        </p:nvSpPr>
        <p:spPr>
          <a:xfrm flipH="1">
            <a:off x="8361000" y="2743200"/>
            <a:ext cx="1514160" cy="1691640"/>
          </a:xfrm>
          <a:prstGeom prst="line">
            <a:avLst/>
          </a:prstGeom>
          <a:ln w="25400">
            <a:solidFill>
              <a:srgbClr val="2e86c1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325" name="Rectangle 91"/>
          <p:cNvSpPr/>
          <p:nvPr/>
        </p:nvSpPr>
        <p:spPr>
          <a:xfrm>
            <a:off x="502920" y="6108120"/>
            <a:ext cx="362880" cy="42840"/>
          </a:xfrm>
          <a:prstGeom prst="rect">
            <a:avLst/>
          </a:prstGeom>
          <a:solidFill>
            <a:srgbClr val="d8374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6" name="TextBox 92"/>
          <p:cNvSpPr/>
          <p:nvPr/>
        </p:nvSpPr>
        <p:spPr>
          <a:xfrm>
            <a:off x="960120" y="6075720"/>
            <a:ext cx="42033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200" spc="-1" strike="noStrike">
                <a:solidFill>
                  <a:srgbClr val="3d4e5c"/>
                </a:solidFill>
                <a:latin typeface="Arial"/>
                <a:ea typeface="DejaVu Sans"/>
              </a:rPr>
              <a:t>Network Policy — one per app, targeted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327" name="Rectangle 93"/>
          <p:cNvSpPr/>
          <p:nvPr/>
        </p:nvSpPr>
        <p:spPr>
          <a:xfrm>
            <a:off x="6172200" y="6108120"/>
            <a:ext cx="362880" cy="42840"/>
          </a:xfrm>
          <a:prstGeom prst="rect">
            <a:avLst/>
          </a:prstGeom>
          <a:solidFill>
            <a:srgbClr val="2e86c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28" name="TextBox 94"/>
          <p:cNvSpPr/>
          <p:nvPr/>
        </p:nvSpPr>
        <p:spPr>
          <a:xfrm>
            <a:off x="6629400" y="6075720"/>
            <a:ext cx="511776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5000"/>
              </a:lnSpc>
              <a:buNone/>
            </a:pPr>
            <a:r>
              <a:rPr b="0" lang="en-IN" sz="1200" spc="-1" strike="noStrike">
                <a:solidFill>
                  <a:srgbClr val="3d4e5c"/>
                </a:solidFill>
                <a:latin typeface="Arial"/>
                <a:ea typeface="DejaVu Sans"/>
              </a:rPr>
              <a:t>default-deny — exactly once per namespace, never per app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Rectangle 21"/>
          <p:cNvSpPr/>
          <p:nvPr/>
        </p:nvSpPr>
        <p:spPr>
          <a:xfrm>
            <a:off x="0" y="0"/>
            <a:ext cx="12189240" cy="68292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0" name="TextBox 41"/>
          <p:cNvSpPr/>
          <p:nvPr/>
        </p:nvSpPr>
        <p:spPr>
          <a:xfrm>
            <a:off x="502920" y="54720"/>
            <a:ext cx="987264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8 · THE FIX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1" name="TextBox 42"/>
          <p:cNvSpPr/>
          <p:nvPr/>
        </p:nvSpPr>
        <p:spPr>
          <a:xfrm>
            <a:off x="502920" y="246960"/>
            <a:ext cx="9872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ffffff"/>
                </a:solidFill>
                <a:latin typeface="Arial"/>
                <a:ea typeface="DejaVu Sans"/>
              </a:rPr>
              <a:t>Centralize the Chart, Render Conditionally</a:t>
            </a:r>
            <a:endParaRPr b="0" lang="en-IN" sz="2000" spc="-1" strike="noStrike">
              <a:latin typeface="Arial"/>
            </a:endParaRPr>
          </a:p>
        </p:txBody>
      </p:sp>
      <p:pic>
        <p:nvPicPr>
          <p:cNvPr id="332" name="" descr=""/>
          <p:cNvPicPr/>
          <p:nvPr/>
        </p:nvPicPr>
        <p:blipFill>
          <a:blip r:embed="rId1"/>
          <a:stretch/>
        </p:blipFill>
        <p:spPr>
          <a:xfrm>
            <a:off x="540000" y="720000"/>
            <a:ext cx="11158920" cy="6058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Rectangle 23"/>
          <p:cNvSpPr/>
          <p:nvPr/>
        </p:nvSpPr>
        <p:spPr>
          <a:xfrm>
            <a:off x="0" y="0"/>
            <a:ext cx="12189240" cy="68292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34" name="TextBox 50"/>
          <p:cNvSpPr/>
          <p:nvPr/>
        </p:nvSpPr>
        <p:spPr>
          <a:xfrm>
            <a:off x="502920" y="54720"/>
            <a:ext cx="9872640" cy="15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1050" spc="-1" strike="noStrike">
                <a:solidFill>
                  <a:srgbClr val="fbd9df"/>
                </a:solidFill>
                <a:latin typeface="Arial"/>
                <a:ea typeface="DejaVu Sans"/>
              </a:rPr>
              <a:t>ANTI-PATTERN 8 · THE FIX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5" name="TextBox 61"/>
          <p:cNvSpPr/>
          <p:nvPr/>
        </p:nvSpPr>
        <p:spPr>
          <a:xfrm>
            <a:off x="502920" y="246960"/>
            <a:ext cx="9872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000" spc="-1" strike="noStrike">
                <a:solidFill>
                  <a:srgbClr val="ffffff"/>
                </a:solidFill>
                <a:latin typeface="Arial"/>
                <a:ea typeface="DejaVu Sans"/>
              </a:rPr>
              <a:t>Centralize the Chart, Render Conditionally</a:t>
            </a:r>
            <a:endParaRPr b="0" lang="en-IN" sz="2000" spc="-1" strike="noStrike">
              <a:latin typeface="Arial"/>
            </a:endParaRPr>
          </a:p>
        </p:txBody>
      </p:sp>
      <p:pic>
        <p:nvPicPr>
          <p:cNvPr id="336" name="" descr=""/>
          <p:cNvPicPr/>
          <p:nvPr/>
        </p:nvPicPr>
        <p:blipFill>
          <a:blip r:embed="rId1"/>
          <a:stretch/>
        </p:blipFill>
        <p:spPr>
          <a:xfrm>
            <a:off x="540000" y="720000"/>
            <a:ext cx="11163960" cy="6118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Box 1"/>
          <p:cNvSpPr/>
          <p:nvPr/>
        </p:nvSpPr>
        <p:spPr>
          <a:xfrm>
            <a:off x="502920" y="144360"/>
            <a:ext cx="98704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600" spc="-1" strike="noStrike">
                <a:solidFill>
                  <a:srgbClr val="ffffff"/>
                </a:solidFill>
                <a:latin typeface="Arial"/>
                <a:ea typeface="DejaVu Sans"/>
              </a:rPr>
              <a:t>Thank You</a:t>
            </a:r>
            <a:endParaRPr b="0" lang="en-IN" sz="2600" spc="-1" strike="noStrike">
              <a:latin typeface="Arial"/>
            </a:endParaRPr>
          </a:p>
        </p:txBody>
      </p:sp>
      <p:sp>
        <p:nvSpPr>
          <p:cNvPr id="338" name="TextBox 2"/>
          <p:cNvSpPr/>
          <p:nvPr/>
        </p:nvSpPr>
        <p:spPr>
          <a:xfrm>
            <a:off x="502920" y="1280160"/>
            <a:ext cx="1051056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0d2436"/>
                </a:solidFill>
                <a:latin typeface="Arial"/>
                <a:ea typeface="DejaVu Sans"/>
              </a:rPr>
              <a:t>Questions?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339" name="Rectangle 24"/>
          <p:cNvSpPr/>
          <p:nvPr/>
        </p:nvSpPr>
        <p:spPr>
          <a:xfrm>
            <a:off x="0" y="0"/>
            <a:ext cx="12187080" cy="680760"/>
          </a:xfrm>
          <a:prstGeom prst="rect">
            <a:avLst/>
          </a:prstGeom>
          <a:gradFill rotWithShape="0">
            <a:gsLst>
              <a:gs pos="0">
                <a:srgbClr val="d83749"/>
              </a:gs>
              <a:gs pos="100000">
                <a:srgbClr val="542671"/>
              </a:gs>
            </a:gsLst>
            <a:lin ang="0"/>
          </a:gra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40" name="TextBox 43"/>
          <p:cNvSpPr/>
          <p:nvPr/>
        </p:nvSpPr>
        <p:spPr>
          <a:xfrm>
            <a:off x="502920" y="144360"/>
            <a:ext cx="987048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600" spc="-1" strike="noStrike">
                <a:solidFill>
                  <a:srgbClr val="ffffff"/>
                </a:solidFill>
                <a:latin typeface="Arial"/>
                <a:ea typeface="DejaVu Sans"/>
              </a:rPr>
              <a:t>Thank You</a:t>
            </a:r>
            <a:endParaRPr b="0" lang="en-IN" sz="2600" spc="-1" strike="noStrike">
              <a:latin typeface="Arial"/>
            </a:endParaRPr>
          </a:p>
        </p:txBody>
      </p:sp>
      <p:pic>
        <p:nvPicPr>
          <p:cNvPr id="341" name="" descr=""/>
          <p:cNvPicPr/>
          <p:nvPr/>
        </p:nvPicPr>
        <p:blipFill>
          <a:blip r:embed="rId1"/>
          <a:stretch/>
        </p:blipFill>
        <p:spPr>
          <a:xfrm>
            <a:off x="2700000" y="2400480"/>
            <a:ext cx="1735200" cy="1735200"/>
          </a:xfrm>
          <a:prstGeom prst="rect">
            <a:avLst/>
          </a:prstGeom>
          <a:ln w="0">
            <a:noFill/>
          </a:ln>
        </p:spPr>
      </p:pic>
      <p:sp>
        <p:nvSpPr>
          <p:cNvPr id="342" name="TextBox 44"/>
          <p:cNvSpPr/>
          <p:nvPr/>
        </p:nvSpPr>
        <p:spPr>
          <a:xfrm>
            <a:off x="2880000" y="4320000"/>
            <a:ext cx="28756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0d2436"/>
                </a:solidFill>
                <a:latin typeface="Arial"/>
                <a:ea typeface="DejaVu Sans"/>
              </a:rPr>
              <a:t>kubeaid.io</a:t>
            </a:r>
            <a:endParaRPr b="0" lang="en-IN" sz="2200" spc="-1" strike="noStrike">
              <a:latin typeface="Arial"/>
            </a:endParaRPr>
          </a:p>
        </p:txBody>
      </p:sp>
      <p:pic>
        <p:nvPicPr>
          <p:cNvPr id="343" name="" descr=""/>
          <p:cNvPicPr/>
          <p:nvPr/>
        </p:nvPicPr>
        <p:blipFill>
          <a:blip r:embed="rId2"/>
          <a:stretch/>
        </p:blipFill>
        <p:spPr>
          <a:xfrm>
            <a:off x="7200000" y="2275560"/>
            <a:ext cx="1680120" cy="1680120"/>
          </a:xfrm>
          <a:prstGeom prst="rect">
            <a:avLst/>
          </a:prstGeom>
          <a:ln w="0">
            <a:noFill/>
          </a:ln>
        </p:spPr>
      </p:pic>
      <p:sp>
        <p:nvSpPr>
          <p:cNvPr id="344" name="TextBox 45"/>
          <p:cNvSpPr/>
          <p:nvPr/>
        </p:nvSpPr>
        <p:spPr>
          <a:xfrm>
            <a:off x="6300000" y="4164480"/>
            <a:ext cx="44956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buNone/>
            </a:pPr>
            <a:r>
              <a:rPr b="1" lang="en-IN" sz="2200" spc="-1" strike="noStrike">
                <a:solidFill>
                  <a:srgbClr val="0d2436"/>
                </a:solidFill>
                <a:latin typeface="Arial"/>
                <a:ea typeface="DejaVu Sans"/>
              </a:rPr>
              <a:t>github.com/obmondo/KubeAid/</a:t>
            </a:r>
            <a:endParaRPr b="0" lang="en-IN" sz="2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1503</TotalTime>
  <Application>LibreOffice/7.3.7.2$Linux_X86_64 LibreOffice_project/30$Build-2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en-IN</dc:language>
  <cp:lastModifiedBy/>
  <dcterms:modified xsi:type="dcterms:W3CDTF">2026-09-19T16:29:56Z</dcterms:modified>
  <cp:revision>23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