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0.jpeg" ContentType="image/jpeg"/>
  <Override PartName="/ppt/media/image5.png" ContentType="image/png"/>
  <Override PartName="/ppt/media/image14.png" ContentType="image/png"/>
  <Override PartName="/ppt/media/image9.png" ContentType="image/png"/>
  <Override PartName="/ppt/media/image2.png" ContentType="image/png"/>
  <Override PartName="/ppt/media/image15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11.png" ContentType="image/png"/>
  <Override PartName="/ppt/media/image1.jpeg" ContentType="image/jpe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5DC55C7-2835-4893-8EDD-E0FC533A72C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Open the session. Welcome, house-keeping, and hand over to the first speaker.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DFA7FB9-4791-4BAB-8869-3CE910C5EA12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Walk the agenda in under a minute.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FE37872-6647-4582-88A4-A87AF8D51A9E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Section break. Pause before the next part of the talk.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EF0358A-0508-46D8-B1D5-1FE6D70E0512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Section break. Pause before the next part of the talk.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F00FBE0-6F55-48E7-8EFE-38AD23429652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Section break. Pause before the next part of the talk.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2D9ADC9-8429-45B9-9763-D431F1E67FAF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Three headline figures. Give the audience a beat on each.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66774B-0408-4222-8290-34A313F8D15C}" type="slidenum">
              <a:rPr b="0" lang="en-US" sz="1800" spc="-1" strike="noStrike">
                <a:latin typeface="Times New Roman"/>
              </a:rPr>
              <a:t>21</a:t>
            </a:fld>
            <a:endParaRPr b="0" lang="en-IN" sz="18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Three headline figures. Give the audience a beat on each.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3F5FE70-C54C-4162-8914-79059F2C2800}" type="slidenum">
              <a:rPr b="0" lang="en-US" sz="1800" spc="-1" strike="noStrike">
                <a:latin typeface="Times New Roman"/>
              </a:rPr>
              <a:t>21</a:t>
            </a:fld>
            <a:endParaRPr b="0" lang="en-IN" sz="18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Close with the ask: slides link, QR, and where to find you during the day.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73827A4-D766-403E-817C-54D236516615}" type="slidenum">
              <a:rPr b="0" lang="en-US" sz="1400" spc="-1" strike="noStrike">
                <a:latin typeface="Times New Roman"/>
              </a:rPr>
              <a:t>21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6;p3" descr="preencoded.png"/>
          <p:cNvPicPr/>
          <p:nvPr/>
        </p:nvPicPr>
        <p:blipFill>
          <a:blip r:embed="rId1"/>
          <a:stretch/>
        </p:blipFill>
        <p:spPr>
          <a:xfrm>
            <a:off x="1047600" y="876240"/>
            <a:ext cx="4951440" cy="216972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18;p3"/>
          <p:cNvSpPr/>
          <p:nvPr/>
        </p:nvSpPr>
        <p:spPr>
          <a:xfrm>
            <a:off x="1305360" y="4400640"/>
            <a:ext cx="1615356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74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12132a"/>
                </a:solidFill>
                <a:latin typeface="Montserrat"/>
                <a:ea typeface="Manrope"/>
              </a:rPr>
              <a:t>Cilium Network Policy Anti-Patterns I Learned the Hard Way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84" name="Google Shape;20;p3"/>
          <p:cNvSpPr/>
          <p:nvPr/>
        </p:nvSpPr>
        <p:spPr>
          <a:xfrm>
            <a:off x="1047600" y="8300880"/>
            <a:ext cx="16191000" cy="17640"/>
          </a:xfrm>
          <a:prstGeom prst="rect">
            <a:avLst/>
          </a:prstGeom>
          <a:solidFill>
            <a:srgbClr val="dcd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Google Shape;21;p3"/>
          <p:cNvSpPr/>
          <p:nvPr/>
        </p:nvSpPr>
        <p:spPr>
          <a:xfrm>
            <a:off x="1047600" y="8663040"/>
            <a:ext cx="7051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50" spc="-1" strike="noStrike">
                <a:solidFill>
                  <a:srgbClr val="12132a"/>
                </a:solidFill>
                <a:latin typeface="Manrope"/>
                <a:ea typeface="Manrope"/>
              </a:rPr>
              <a:t>Shubham Singh, Obmondo</a:t>
            </a:r>
            <a:endParaRPr b="0" lang="en-IN" sz="2550" spc="-1" strike="noStrike">
              <a:latin typeface="Arial"/>
            </a:endParaRPr>
          </a:p>
        </p:txBody>
      </p:sp>
      <p:sp>
        <p:nvSpPr>
          <p:cNvPr id="86" name="Google Shape;23;p3"/>
          <p:cNvSpPr/>
          <p:nvPr/>
        </p:nvSpPr>
        <p:spPr>
          <a:xfrm>
            <a:off x="10199520" y="9210600"/>
            <a:ext cx="70394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5a5e7a"/>
                </a:solidFill>
                <a:latin typeface="JetBrains Mono"/>
                <a:ea typeface="JetBrains Mono"/>
              </a:rPr>
              <a:t>Sat, August 22, 2026 · Le Méridien Kochi</a:t>
            </a:r>
            <a:endParaRPr b="0" lang="en-IN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48;g31ed28cfa71_0_312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88" name="Google Shape;149;g31ed28cfa71_0_ 2" descr=""/>
          <p:cNvPicPr/>
          <p:nvPr/>
        </p:nvPicPr>
        <p:blipFill>
          <a:blip r:embed="rId1"/>
          <a:stretch/>
        </p:blipFill>
        <p:spPr>
          <a:xfrm>
            <a:off x="12352680" y="3392280"/>
            <a:ext cx="3800520" cy="380016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150;g31ed28cfa71_0_ 2"/>
          <p:cNvSpPr/>
          <p:nvPr/>
        </p:nvSpPr>
        <p:spPr>
          <a:xfrm>
            <a:off x="11916360" y="7511760"/>
            <a:ext cx="46720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GitHub: @1shubham7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Twitter: @1shubham7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Youtube: @pea-shooter17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0" name="Google Shape;151;g31ed28cfa71_0_ 2"/>
          <p:cNvSpPr/>
          <p:nvPr/>
        </p:nvSpPr>
        <p:spPr>
          <a:xfrm>
            <a:off x="2491200" y="3675960"/>
            <a:ext cx="8924040" cy="45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Hi 👋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This is Shubham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SRE @Obmondo</a:t>
            </a:r>
            <a:endParaRPr b="0" lang="en-IN" sz="2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Certified Kubernetes Administrator</a:t>
            </a:r>
            <a:endParaRPr b="0" lang="en-IN" sz="2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CNCF Contributor</a:t>
            </a:r>
            <a:endParaRPr b="0" lang="en-IN" sz="2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LFX graduated mentee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"/>
          <p:cNvSpPr/>
          <p:nvPr/>
        </p:nvSpPr>
        <p:spPr>
          <a:xfrm>
            <a:off x="556920" y="540000"/>
            <a:ext cx="335304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" sz="40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42;p5"/>
          <p:cNvSpPr/>
          <p:nvPr/>
        </p:nvSpPr>
        <p:spPr>
          <a:xfrm>
            <a:off x="1047600" y="876240"/>
            <a:ext cx="178102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928d9"/>
                </a:solidFill>
                <a:latin typeface="JetBrains Mono"/>
                <a:ea typeface="JetBrains Mono"/>
              </a:rPr>
              <a:t>AGENDA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" name="Google Shape;43;p5"/>
          <p:cNvSpPr/>
          <p:nvPr/>
        </p:nvSpPr>
        <p:spPr>
          <a:xfrm>
            <a:off x="1047600" y="1386000"/>
            <a:ext cx="17810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12132a"/>
                </a:solidFill>
                <a:latin typeface="Montserrat"/>
                <a:ea typeface="Manrope"/>
              </a:rPr>
              <a:t>What we will cover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95" name="Google Shape;44;p5"/>
          <p:cNvSpPr/>
          <p:nvPr/>
        </p:nvSpPr>
        <p:spPr>
          <a:xfrm>
            <a:off x="1047600" y="2671920"/>
            <a:ext cx="16191000" cy="17640"/>
          </a:xfrm>
          <a:prstGeom prst="rect">
            <a:avLst/>
          </a:prstGeom>
          <a:solidFill>
            <a:srgbClr val="dcd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45;p5"/>
          <p:cNvSpPr/>
          <p:nvPr/>
        </p:nvSpPr>
        <p:spPr>
          <a:xfrm>
            <a:off x="1047600" y="3152880"/>
            <a:ext cx="7416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3928d9"/>
                </a:solidFill>
                <a:latin typeface="JetBrains Mono"/>
                <a:ea typeface="JetBrains Mono"/>
              </a:rPr>
              <a:t>01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97" name="Google Shape;46;p5"/>
          <p:cNvSpPr/>
          <p:nvPr/>
        </p:nvSpPr>
        <p:spPr>
          <a:xfrm>
            <a:off x="2171880" y="2976480"/>
            <a:ext cx="153388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2132a"/>
                </a:solidFill>
                <a:latin typeface="Montserrat"/>
                <a:ea typeface="Manrope"/>
              </a:rPr>
              <a:t>What Cilium is, in one breath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98" name="Google Shape;48;p5"/>
          <p:cNvSpPr/>
          <p:nvPr/>
        </p:nvSpPr>
        <p:spPr>
          <a:xfrm>
            <a:off x="1047600" y="3833640"/>
            <a:ext cx="16191000" cy="17640"/>
          </a:xfrm>
          <a:prstGeom prst="rect">
            <a:avLst/>
          </a:prstGeom>
          <a:solidFill>
            <a:srgbClr val="dcd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Google Shape;49;p5"/>
          <p:cNvSpPr/>
          <p:nvPr/>
        </p:nvSpPr>
        <p:spPr>
          <a:xfrm>
            <a:off x="1047600" y="4314960"/>
            <a:ext cx="7416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3928d9"/>
                </a:solidFill>
                <a:latin typeface="JetBrains Mono"/>
                <a:ea typeface="JetBrains Mono"/>
              </a:rPr>
              <a:t>02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00" name="Google Shape;50;p5"/>
          <p:cNvSpPr/>
          <p:nvPr/>
        </p:nvSpPr>
        <p:spPr>
          <a:xfrm>
            <a:off x="2171880" y="4138560"/>
            <a:ext cx="152272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2132a"/>
                </a:solidFill>
                <a:latin typeface="Montserrat"/>
                <a:ea typeface="Manrope"/>
              </a:rPr>
              <a:t>Why we chose CiliumNetworkPolicy over vanilla NetworkPolicy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101" name="Google Shape;52;p5"/>
          <p:cNvSpPr/>
          <p:nvPr/>
        </p:nvSpPr>
        <p:spPr>
          <a:xfrm>
            <a:off x="1047600" y="4995720"/>
            <a:ext cx="16191000" cy="17640"/>
          </a:xfrm>
          <a:prstGeom prst="rect">
            <a:avLst/>
          </a:prstGeom>
          <a:solidFill>
            <a:srgbClr val="dcd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Google Shape;53;p5"/>
          <p:cNvSpPr/>
          <p:nvPr/>
        </p:nvSpPr>
        <p:spPr>
          <a:xfrm>
            <a:off x="1047600" y="5477040"/>
            <a:ext cx="7416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3928d9"/>
                </a:solidFill>
                <a:latin typeface="JetBrains Mono"/>
                <a:ea typeface="JetBrains Mono"/>
              </a:rPr>
              <a:t>03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03" name="Google Shape;54;p5"/>
          <p:cNvSpPr/>
          <p:nvPr/>
        </p:nvSpPr>
        <p:spPr>
          <a:xfrm>
            <a:off x="2171880" y="5300640"/>
            <a:ext cx="153504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2132a"/>
                </a:solidFill>
                <a:latin typeface="Montserrat"/>
                <a:ea typeface="Manrope"/>
              </a:rPr>
              <a:t>Anti patterns from real production incidents</a:t>
            </a:r>
            <a:endParaRPr b="0" lang="en-IN" sz="3300" spc="-1" strike="noStrike">
              <a:latin typeface="Arial"/>
            </a:endParaRPr>
          </a:p>
        </p:txBody>
      </p:sp>
      <p:sp>
        <p:nvSpPr>
          <p:cNvPr id="104" name="Google Shape;57;p5"/>
          <p:cNvSpPr/>
          <p:nvPr/>
        </p:nvSpPr>
        <p:spPr>
          <a:xfrm>
            <a:off x="1047600" y="6157800"/>
            <a:ext cx="16191000" cy="17640"/>
          </a:xfrm>
          <a:prstGeom prst="rect">
            <a:avLst/>
          </a:prstGeom>
          <a:solidFill>
            <a:srgbClr val="dcd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Google Shape;61;p5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360" cy="5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68;p6"/>
          <p:cNvSpPr/>
          <p:nvPr/>
        </p:nvSpPr>
        <p:spPr>
          <a:xfrm>
            <a:off x="1047600" y="1080000"/>
            <a:ext cx="13619160" cy="9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77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Manrope"/>
                <a:ea typeface="Manrope"/>
              </a:rPr>
              <a:t>What is Cilium?</a:t>
            </a:r>
            <a:endParaRPr b="0" lang="en-IN" sz="6600" spc="-1" strike="noStrike">
              <a:latin typeface="Arial"/>
            </a:endParaRPr>
          </a:p>
        </p:txBody>
      </p:sp>
      <p:sp>
        <p:nvSpPr>
          <p:cNvPr id="107" name="Google Shape;69;p6"/>
          <p:cNvSpPr/>
          <p:nvPr/>
        </p:nvSpPr>
        <p:spPr>
          <a:xfrm>
            <a:off x="1165680" y="2235960"/>
            <a:ext cx="1713240" cy="74880"/>
          </a:xfrm>
          <a:prstGeom prst="rect">
            <a:avLst/>
          </a:prstGeom>
          <a:solidFill>
            <a:srgbClr val="39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8" name="Google Shape;70;p6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000" cy="532080"/>
          </a:xfrm>
          <a:prstGeom prst="rect">
            <a:avLst/>
          </a:prstGeom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10423800" y="1668960"/>
            <a:ext cx="7058880" cy="589320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5"/>
          <p:cNvSpPr/>
          <p:nvPr/>
        </p:nvSpPr>
        <p:spPr>
          <a:xfrm>
            <a:off x="10423800" y="1668960"/>
            <a:ext cx="7058880" cy="589320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4"/>
          <p:cNvSpPr/>
          <p:nvPr/>
        </p:nvSpPr>
        <p:spPr>
          <a:xfrm>
            <a:off x="10766520" y="2012040"/>
            <a:ext cx="64418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4000" spc="-1" strike="noStrike">
                <a:solidFill>
                  <a:srgbClr val="0d2436"/>
                </a:solidFill>
                <a:latin typeface="Arial"/>
                <a:ea typeface="DejaVu Sans"/>
              </a:rPr>
              <a:t>NetworkPolicy vs CNP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10766880" y="2880000"/>
            <a:ext cx="6373080" cy="26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L3/L4 only  →  L3–L7 (HTTP, gRPC, Kafka, DNS)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IP/CIDR-centric  →  Identity/label-centric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iptables datapath  →  eBPF datapath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No visibility  →  Hubble flow observability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080000" y="3420000"/>
            <a:ext cx="8818920" cy="52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An eBPF-based networking, observability &amp; security layer for Kubernetes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Replaces kube-proxy; enforces policy in the kernel, not iptables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Identity-based security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Ships Hubble for flow visibility and CiliumNetworkPolicy as a richer superset of the native NetworkPolicy API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68;p 1"/>
          <p:cNvSpPr/>
          <p:nvPr/>
        </p:nvSpPr>
        <p:spPr>
          <a:xfrm>
            <a:off x="1047600" y="1080000"/>
            <a:ext cx="13619160" cy="9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77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Manrope"/>
                <a:ea typeface="Manrope"/>
              </a:rPr>
              <a:t>Why CiliumNetworkPolicy?</a:t>
            </a:r>
            <a:endParaRPr b="0" lang="en-IN" sz="6000" spc="-1" strike="noStrike">
              <a:latin typeface="Arial"/>
            </a:endParaRPr>
          </a:p>
        </p:txBody>
      </p:sp>
      <p:sp>
        <p:nvSpPr>
          <p:cNvPr id="115" name="Google Shape;69;p 2"/>
          <p:cNvSpPr/>
          <p:nvPr/>
        </p:nvSpPr>
        <p:spPr>
          <a:xfrm>
            <a:off x="1165680" y="2235960"/>
            <a:ext cx="1713240" cy="74880"/>
          </a:xfrm>
          <a:prstGeom prst="rect">
            <a:avLst/>
          </a:prstGeom>
          <a:solidFill>
            <a:srgbClr val="39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6" name="Google Shape;70;p 2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000" cy="53208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1260000" y="3060000"/>
            <a:ext cx="15478920" cy="61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Noto Sans CJK SC"/>
              </a:rPr>
              <a:t>Native netpols can only allow - CNP adds explicit deny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Noto Sans CJK SC"/>
              </a:rPr>
              <a:t>CiliumClusterwideNetworkPolicy for Cluster wide netpols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Noto Sans CJK SC"/>
              </a:rPr>
              <a:t>Native netpols - CIDR only, no hostnames support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Noto Sans CJK SC"/>
              </a:rPr>
              <a:t>DNS/L7-aware rules (toFQDNs, toServices, toEntities)</a:t>
            </a:r>
            <a:endParaRPr b="0" lang="en-IN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Noto Sans CJK SC"/>
              </a:rPr>
              <a:t>Native netpols can only reference Pods/ns via selectors, or raw CIDR blocks. CNP gives you predefined identities - world, host, cluster, kube-apiserver, remote-node.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68;p 2"/>
          <p:cNvSpPr/>
          <p:nvPr/>
        </p:nvSpPr>
        <p:spPr>
          <a:xfrm>
            <a:off x="1047600" y="1080000"/>
            <a:ext cx="13619160" cy="9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77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Manrope"/>
                <a:ea typeface="Manrope"/>
              </a:rPr>
              <a:t>Why CiliumNetworkPolicy?</a:t>
            </a:r>
            <a:endParaRPr b="0" lang="en-IN" sz="6000" spc="-1" strike="noStrike">
              <a:latin typeface="Arial"/>
            </a:endParaRPr>
          </a:p>
        </p:txBody>
      </p:sp>
      <p:sp>
        <p:nvSpPr>
          <p:cNvPr id="119" name="Google Shape;69;p 3"/>
          <p:cNvSpPr/>
          <p:nvPr/>
        </p:nvSpPr>
        <p:spPr>
          <a:xfrm>
            <a:off x="1165680" y="2235960"/>
            <a:ext cx="1713240" cy="74880"/>
          </a:xfrm>
          <a:prstGeom prst="rect">
            <a:avLst/>
          </a:prstGeom>
          <a:solidFill>
            <a:srgbClr val="39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Google Shape;70;p 3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000" cy="53208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31;p 1"/>
          <p:cNvSpPr/>
          <p:nvPr/>
        </p:nvSpPr>
        <p:spPr>
          <a:xfrm>
            <a:off x="1047600" y="2633760"/>
            <a:ext cx="16191000" cy="7085160"/>
          </a:xfrm>
          <a:prstGeom prst="rect">
            <a:avLst/>
          </a:prstGeom>
          <a:solidFill>
            <a:srgbClr val="1b1c3a"/>
          </a:solidFill>
          <a:ln w="19050">
            <a:solidFill>
              <a:srgbClr val="2e2f5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Google Shape;132;p 1"/>
          <p:cNvSpPr/>
          <p:nvPr/>
        </p:nvSpPr>
        <p:spPr>
          <a:xfrm>
            <a:off x="1562040" y="3147840"/>
            <a:ext cx="15648120" cy="49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apiVersion: cilium.io/v2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kind: CiliumNetworkPolicy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metadata: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name: db-access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namespace: production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spec: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endpointSelector: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app: database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ingress: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role: backend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ingressDeny: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role: untrusted-client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94;p8"/>
          <p:cNvSpPr/>
          <p:nvPr/>
        </p:nvSpPr>
        <p:spPr>
          <a:xfrm>
            <a:off x="1319760" y="4173480"/>
            <a:ext cx="1361916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12132a"/>
                </a:solidFill>
                <a:latin typeface="Manrope"/>
                <a:ea typeface="Manrope"/>
              </a:rPr>
              <a:t>Anti patterns I learned about CNP</a:t>
            </a:r>
            <a:endParaRPr b="0" lang="en-IN" sz="4800" spc="-1" strike="noStrike">
              <a:latin typeface="Arial"/>
            </a:endParaRPr>
          </a:p>
        </p:txBody>
      </p:sp>
      <p:pic>
        <p:nvPicPr>
          <p:cNvPr id="124" name="Google Shape;105;p8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360" cy="5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48;g31ed28cfa71_0_ 1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6" name="Rectangle 6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Box 3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Selector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9" name="Rectangle 9"/>
          <p:cNvSpPr/>
          <p:nvPr/>
        </p:nvSpPr>
        <p:spPr>
          <a:xfrm>
            <a:off x="754200" y="214560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10"/>
          <p:cNvSpPr/>
          <p:nvPr/>
        </p:nvSpPr>
        <p:spPr>
          <a:xfrm>
            <a:off x="754200" y="214524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8"/>
          <p:cNvSpPr/>
          <p:nvPr/>
        </p:nvSpPr>
        <p:spPr>
          <a:xfrm>
            <a:off x="959760" y="226620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1000800" y="2858760"/>
            <a:ext cx="77313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my-database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namaespace: my-namespace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   # Service port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exposes 5432, Pod (pgbouncer)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listens on 80 -- after DNAT the dest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port is 80, so this never matches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3" name="Rectangle 13"/>
          <p:cNvSpPr/>
          <p:nvPr/>
        </p:nvSpPr>
        <p:spPr>
          <a:xfrm>
            <a:off x="9395280" y="214560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ectangle 15"/>
          <p:cNvSpPr/>
          <p:nvPr/>
        </p:nvSpPr>
        <p:spPr>
          <a:xfrm>
            <a:off x="9395280" y="214524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12"/>
          <p:cNvSpPr/>
          <p:nvPr/>
        </p:nvSpPr>
        <p:spPr>
          <a:xfrm>
            <a:off x="9600840" y="226620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9641880" y="2858760"/>
            <a:ext cx="77313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my-dataabase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namespace: my-namespace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"80"   # Pod targetPort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after DNAT, the packet's destination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port IS the Pod's targetPort -- write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that here, not the Service port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7" name="Rectangle 16"/>
          <p:cNvSpPr/>
          <p:nvPr/>
        </p:nvSpPr>
        <p:spPr>
          <a:xfrm>
            <a:off x="753840" y="7357320"/>
            <a:ext cx="16797240" cy="15040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17"/>
          <p:cNvSpPr/>
          <p:nvPr/>
        </p:nvSpPr>
        <p:spPr>
          <a:xfrm>
            <a:off x="753840" y="7357320"/>
            <a:ext cx="71280" cy="15040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16"/>
          <p:cNvSpPr/>
          <p:nvPr/>
        </p:nvSpPr>
        <p:spPr>
          <a:xfrm>
            <a:off x="1028520" y="7790400"/>
            <a:ext cx="16248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toPorts has to match the backend Pod's real targetPort, not the Service's exposed port - after DNAT, the packet's destination port already is the Pod's port.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8;g31ed28cfa71_0_ 2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1" name="Rectangle 11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Box 13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Selector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2429640" y="1189080"/>
            <a:ext cx="12997080" cy="85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8;g31ed28cfa71_0_ 3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6" name="Rectangle 26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Box 30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48" name="TextBox 31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toEndpoints vs ToServices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9" name="Rectangle 27"/>
          <p:cNvSpPr/>
          <p:nvPr/>
        </p:nvSpPr>
        <p:spPr>
          <a:xfrm>
            <a:off x="720360" y="2280960"/>
            <a:ext cx="8226720" cy="48664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28"/>
          <p:cNvSpPr/>
          <p:nvPr/>
        </p:nvSpPr>
        <p:spPr>
          <a:xfrm>
            <a:off x="720360" y="2280600"/>
            <a:ext cx="8226720" cy="5461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32"/>
          <p:cNvSpPr/>
          <p:nvPr/>
        </p:nvSpPr>
        <p:spPr>
          <a:xfrm>
            <a:off x="925920" y="2417040"/>
            <a:ext cx="7815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8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" name="TextBox 33"/>
          <p:cNvSpPr/>
          <p:nvPr/>
        </p:nvSpPr>
        <p:spPr>
          <a:xfrm>
            <a:off x="966960" y="2994120"/>
            <a:ext cx="7733520" cy="35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oncall-pgsql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namespace: my-namespace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name is templated per Helm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# release - rename/reinstall, and this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# rule silently stops matching anything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" name="Rectangle 29"/>
          <p:cNvSpPr/>
          <p:nvPr/>
        </p:nvSpPr>
        <p:spPr>
          <a:xfrm>
            <a:off x="9361440" y="2280960"/>
            <a:ext cx="8226720" cy="48664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Rectangle 30"/>
          <p:cNvSpPr/>
          <p:nvPr/>
        </p:nvSpPr>
        <p:spPr>
          <a:xfrm>
            <a:off x="9361440" y="2280600"/>
            <a:ext cx="8226720" cy="5461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34"/>
          <p:cNvSpPr/>
          <p:nvPr/>
        </p:nvSpPr>
        <p:spPr>
          <a:xfrm>
            <a:off x="9567000" y="2417040"/>
            <a:ext cx="7815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8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" name="TextBox 35"/>
          <p:cNvSpPr/>
          <p:nvPr/>
        </p:nvSpPr>
        <p:spPr>
          <a:xfrm>
            <a:off x="9608040" y="2994120"/>
            <a:ext cx="7733520" cy="35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toEndpoints: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cnpg.io/cluster: oncall-pgsql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k8s:io.kubernetes.pod.namespace: \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my-namespace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# operator-set label - stable across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800" spc="-1" strike="noStrike">
                <a:solidFill>
                  <a:srgbClr val="0d2436"/>
                </a:solidFill>
                <a:latin typeface="Consolas"/>
                <a:ea typeface="DejaVu Sans"/>
              </a:rPr>
              <a:t># releases, no Service/DNAT layer at all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" name="Rectangle 31"/>
          <p:cNvSpPr/>
          <p:nvPr/>
        </p:nvSpPr>
        <p:spPr>
          <a:xfrm>
            <a:off x="720000" y="7492680"/>
            <a:ext cx="16799400" cy="15062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32"/>
          <p:cNvSpPr/>
          <p:nvPr/>
        </p:nvSpPr>
        <p:spPr>
          <a:xfrm>
            <a:off x="720000" y="7492680"/>
            <a:ext cx="73440" cy="15062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36"/>
          <p:cNvSpPr/>
          <p:nvPr/>
        </p:nvSpPr>
        <p:spPr>
          <a:xfrm>
            <a:off x="994680" y="7895880"/>
            <a:ext cx="162507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toServices ties your policy to the service name - Helm templated names change on release rename, which will silently break the rule. Also, you're exposed to toServices' toPorts quirks. toEndpoints on a stable, operator-set label sidesteps both.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48;g31ed28cfa71_0_ 4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1" name="Rectangle 8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Box 10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Unique-per-Pod Labels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4" name="Rectangle 20"/>
          <p:cNvSpPr/>
          <p:nvPr/>
        </p:nvSpPr>
        <p:spPr>
          <a:xfrm>
            <a:off x="720000" y="7492680"/>
            <a:ext cx="11158920" cy="15062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40"/>
          <p:cNvSpPr/>
          <p:nvPr/>
        </p:nvSpPr>
        <p:spPr>
          <a:xfrm>
            <a:off x="720000" y="7492680"/>
            <a:ext cx="73440" cy="15062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47"/>
          <p:cNvSpPr/>
          <p:nvPr/>
        </p:nvSpPr>
        <p:spPr>
          <a:xfrm>
            <a:off x="994680" y="7895880"/>
            <a:ext cx="105242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Cilium maintains a list of label patterns excluded from identity calculation (to avoid identity churn). Per Pod unique or per deployment revision unique labels are in that exclusion list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773280" y="215460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Rectangle 12"/>
          <p:cNvSpPr/>
          <p:nvPr/>
        </p:nvSpPr>
        <p:spPr>
          <a:xfrm>
            <a:off x="720000" y="187524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TextBox 2"/>
          <p:cNvSpPr/>
          <p:nvPr/>
        </p:nvSpPr>
        <p:spPr>
          <a:xfrm>
            <a:off x="925560" y="199620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966600" y="2588760"/>
            <a:ext cx="77313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matchLabels: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statefulset.kubernetes.io/pod-name: \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oncall-pgsql-1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Cilium excludes this label from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identity calculation entirely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selector matches NOTHING, silently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1" name="Rectangle 14"/>
          <p:cNvSpPr/>
          <p:nvPr/>
        </p:nvSpPr>
        <p:spPr>
          <a:xfrm>
            <a:off x="9414360" y="215460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Rectangle 18"/>
          <p:cNvSpPr/>
          <p:nvPr/>
        </p:nvSpPr>
        <p:spPr>
          <a:xfrm>
            <a:off x="9361080" y="187524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TextBox 18"/>
          <p:cNvSpPr/>
          <p:nvPr/>
        </p:nvSpPr>
        <p:spPr>
          <a:xfrm>
            <a:off x="9566640" y="199620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4" name="TextBox 19"/>
          <p:cNvSpPr/>
          <p:nvPr/>
        </p:nvSpPr>
        <p:spPr>
          <a:xfrm>
            <a:off x="9607680" y="2588760"/>
            <a:ext cx="77313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matchLabels: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cnpg.io/cluster: oncall-pgsql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k8s:io.kubernetes.pod.namespace: \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my-namespace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shared label across all replicas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-&gt; one stable security identity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14400000" y="6480000"/>
            <a:ext cx="360000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48;g31ed28cfa71_0_ 5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77" name="Rectangle 19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Box 20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4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toFQDNS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720360" y="234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Rectangle 7"/>
          <p:cNvSpPr/>
          <p:nvPr/>
        </p:nvSpPr>
        <p:spPr>
          <a:xfrm>
            <a:off x="720360" y="234000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TextBox 1"/>
          <p:cNvSpPr/>
          <p:nvPr/>
        </p:nvSpPr>
        <p:spPr>
          <a:xfrm>
            <a:off x="925920" y="246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966960" y="3053520"/>
            <a:ext cx="773136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toFQDNs: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matchName: api.telegram.org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"443"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no rules.dns on THIS pod's policy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→ proxy interception never turns 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4" name="Rectangle 21"/>
          <p:cNvSpPr/>
          <p:nvPr/>
        </p:nvSpPr>
        <p:spPr>
          <a:xfrm>
            <a:off x="9361440" y="234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ectangle 22"/>
          <p:cNvSpPr/>
          <p:nvPr/>
        </p:nvSpPr>
        <p:spPr>
          <a:xfrm>
            <a:off x="9361440" y="234000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22"/>
          <p:cNvSpPr/>
          <p:nvPr/>
        </p:nvSpPr>
        <p:spPr>
          <a:xfrm>
            <a:off x="9567000" y="246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9608040" y="3053520"/>
            <a:ext cx="773136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toEndpoints: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 {k8s-app: kube-dns}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 [{port: "53", protocol: ANY}]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rules: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dns: [{matchPattern: "*"}]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toFQDNs: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matchName: api.telegram.org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8" name="Rectangle 23"/>
          <p:cNvSpPr/>
          <p:nvPr/>
        </p:nvSpPr>
        <p:spPr>
          <a:xfrm>
            <a:off x="720000" y="7552080"/>
            <a:ext cx="16797240" cy="15040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Rectangle 24"/>
          <p:cNvSpPr/>
          <p:nvPr/>
        </p:nvSpPr>
        <p:spPr>
          <a:xfrm>
            <a:off x="720000" y="7552080"/>
            <a:ext cx="71280" cy="15040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24"/>
          <p:cNvSpPr/>
          <p:nvPr/>
        </p:nvSpPr>
        <p:spPr>
          <a:xfrm>
            <a:off x="994680" y="7954560"/>
            <a:ext cx="1624860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DNS proxy activation is per-endpoint. A default-deny policy's DNS rule doesn't activate it for this pod. Without it, IP↔FQDN mapping never lands in this pod's cache.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48;g31ed28cfa71_0_ 6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92" name="Rectangle 41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Box 48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4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4" name="TextBox 49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toFQDNS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95" name="Google Shape;70;p 1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000" cy="532080"/>
          </a:xfrm>
          <a:prstGeom prst="rect">
            <a:avLst/>
          </a:prstGeom>
          <a:ln w="0">
            <a:noFill/>
          </a:ln>
        </p:spPr>
      </p:pic>
      <p:sp>
        <p:nvSpPr>
          <p:cNvPr id="196" name="Google Shape;131;p 2"/>
          <p:cNvSpPr/>
          <p:nvPr/>
        </p:nvSpPr>
        <p:spPr>
          <a:xfrm>
            <a:off x="1047600" y="1980000"/>
            <a:ext cx="16191000" cy="7918920"/>
          </a:xfrm>
          <a:prstGeom prst="rect">
            <a:avLst/>
          </a:prstGeom>
          <a:solidFill>
            <a:srgbClr val="1b1c3a"/>
          </a:solidFill>
          <a:ln w="19050">
            <a:solidFill>
              <a:srgbClr val="2e2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7" name="Google Shape;132;p 2"/>
          <p:cNvSpPr/>
          <p:nvPr/>
        </p:nvSpPr>
        <p:spPr>
          <a:xfrm>
            <a:off x="1562040" y="1984320"/>
            <a:ext cx="15648120" cy="52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spec: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endpointSelector: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{{- if $config.excludedPods }}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	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...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{{- else }}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{}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{{- end }}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enableDefaultDeny: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egress: true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ingress: true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# Allow only DNS egress to kube-dns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egress: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toEndpoints: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matchLabels: ...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toPorts: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ports: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port: "53"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protocol: ANY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rules: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dns: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          </a:t>
            </a:r>
            <a:r>
              <a:rPr b="0" lang="en-US" sz="1800" spc="-1" strike="noStrike">
                <a:solidFill>
                  <a:srgbClr val="d7d8ec"/>
                </a:solidFill>
                <a:highlight>
                  <a:srgbClr val="1b1c3a"/>
                </a:highlight>
                <a:latin typeface="JetBrains Mono"/>
                <a:ea typeface="JetBrains Mono"/>
              </a:rPr>
              <a:t>- matchPattern: "*"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48;g31ed28cfa71_0_ 7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99" name="Rectangle 25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Box 25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5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1" name="TextBox 26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Default-Deny Surprises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02" name="Rectangle 39"/>
          <p:cNvSpPr/>
          <p:nvPr/>
        </p:nvSpPr>
        <p:spPr>
          <a:xfrm>
            <a:off x="720360" y="252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Rectangle 42"/>
          <p:cNvSpPr/>
          <p:nvPr/>
        </p:nvSpPr>
        <p:spPr>
          <a:xfrm>
            <a:off x="720360" y="252000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41"/>
          <p:cNvSpPr/>
          <p:nvPr/>
        </p:nvSpPr>
        <p:spPr>
          <a:xfrm>
            <a:off x="925920" y="264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5" name="TextBox 42"/>
          <p:cNvSpPr/>
          <p:nvPr/>
        </p:nvSpPr>
        <p:spPr>
          <a:xfrm>
            <a:off x="966960" y="3233520"/>
            <a:ext cx="773136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Applying ANY CiliumNetworkPolicy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flips this endpoint from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"enforcement: never" to "always"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Result: DNS breaks, kubelet health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checks get dropped, pods restart —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none of it was explicitly denied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6" name="Rectangle 43"/>
          <p:cNvSpPr/>
          <p:nvPr/>
        </p:nvSpPr>
        <p:spPr>
          <a:xfrm>
            <a:off x="9361440" y="252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Rectangle 44"/>
          <p:cNvSpPr/>
          <p:nvPr/>
        </p:nvSpPr>
        <p:spPr>
          <a:xfrm>
            <a:off x="9361440" y="252000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TextBox 43"/>
          <p:cNvSpPr/>
          <p:nvPr/>
        </p:nvSpPr>
        <p:spPr>
          <a:xfrm>
            <a:off x="9567000" y="264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9" name="TextBox 44"/>
          <p:cNvSpPr/>
          <p:nvPr/>
        </p:nvSpPr>
        <p:spPr>
          <a:xfrm>
            <a:off x="9608040" y="3233520"/>
            <a:ext cx="773136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Treat default-deny as day-1 design,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not an afterthought: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1. write a default deny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2. allow DNS egress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3. allow kubelet health-check probes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4. allow kube-apiserver where needed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5. allow ingress from operator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6. roll out in audit/monitor mode first and check hubble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7. THEN add app-specific rules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0" name="Rectangle 45"/>
          <p:cNvSpPr/>
          <p:nvPr/>
        </p:nvSpPr>
        <p:spPr>
          <a:xfrm>
            <a:off x="720000" y="7732080"/>
            <a:ext cx="16797240" cy="15040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Rectangle 46"/>
          <p:cNvSpPr/>
          <p:nvPr/>
        </p:nvSpPr>
        <p:spPr>
          <a:xfrm>
            <a:off x="720000" y="7732080"/>
            <a:ext cx="71280" cy="15040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TextBox 45"/>
          <p:cNvSpPr/>
          <p:nvPr/>
        </p:nvSpPr>
        <p:spPr>
          <a:xfrm>
            <a:off x="994680" y="8309880"/>
            <a:ext cx="162486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The very first CNP that selects a pod silently switches it from "no enforcement" to "default deny."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148;g31ed28cfa71_0_ 8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14" name="Rectangle 53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Box 60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6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6" name="TextBox 61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Assuming LoadBalancer Traffic Is Pre-Authorized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17" name="Rectangle 54"/>
          <p:cNvSpPr/>
          <p:nvPr/>
        </p:nvSpPr>
        <p:spPr>
          <a:xfrm>
            <a:off x="753480" y="2282040"/>
            <a:ext cx="8225280" cy="48650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Rectangle 55"/>
          <p:cNvSpPr/>
          <p:nvPr/>
        </p:nvSpPr>
        <p:spPr>
          <a:xfrm>
            <a:off x="753480" y="2282400"/>
            <a:ext cx="8225280" cy="5443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TextBox 62"/>
          <p:cNvSpPr/>
          <p:nvPr/>
        </p:nvSpPr>
        <p:spPr>
          <a:xfrm>
            <a:off x="959400" y="2403000"/>
            <a:ext cx="7813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0" name="TextBox 63"/>
          <p:cNvSpPr/>
          <p:nvPr/>
        </p:nvSpPr>
        <p:spPr>
          <a:xfrm>
            <a:off x="1000440" y="2995560"/>
            <a:ext cx="77317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fromEndpoints: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app: frontend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traffic actually arrives via an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internet-facing Service/LB -- no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fromEntities/fromCIDR rule admits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it, so it's dropped right after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the Service DNAT step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1" name="Rectangle 56"/>
          <p:cNvSpPr/>
          <p:nvPr/>
        </p:nvSpPr>
        <p:spPr>
          <a:xfrm>
            <a:off x="9394560" y="2282040"/>
            <a:ext cx="8225280" cy="48650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Rectangle 57"/>
          <p:cNvSpPr/>
          <p:nvPr/>
        </p:nvSpPr>
        <p:spPr>
          <a:xfrm>
            <a:off x="9394560" y="2282400"/>
            <a:ext cx="8225280" cy="5443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TextBox 64"/>
          <p:cNvSpPr/>
          <p:nvPr/>
        </p:nvSpPr>
        <p:spPr>
          <a:xfrm>
            <a:off x="9600480" y="2403000"/>
            <a:ext cx="7813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4" name="TextBox 65"/>
          <p:cNvSpPr/>
          <p:nvPr/>
        </p:nvSpPr>
        <p:spPr>
          <a:xfrm>
            <a:off x="9641520" y="2995560"/>
            <a:ext cx="77317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fromEndpoints: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app: frontend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fromEntities: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 world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DNAT and policy enforcement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are two separate, sequential steps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-- passing the LB grants nothing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5" name="Rectangle 58"/>
          <p:cNvSpPr/>
          <p:nvPr/>
        </p:nvSpPr>
        <p:spPr>
          <a:xfrm>
            <a:off x="753840" y="7494480"/>
            <a:ext cx="16797600" cy="15044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59"/>
          <p:cNvSpPr/>
          <p:nvPr/>
        </p:nvSpPr>
        <p:spPr>
          <a:xfrm>
            <a:off x="753840" y="7494480"/>
            <a:ext cx="71640" cy="15044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66"/>
          <p:cNvSpPr/>
          <p:nvPr/>
        </p:nvSpPr>
        <p:spPr>
          <a:xfrm>
            <a:off x="1027800" y="7896600"/>
            <a:ext cx="1624932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 packet can pass Service load-balancing successfully and still get dropped immediately after by policy. The policy engine only ever sees world → Pod identity - it doesn't know or care that traffic arrived via an internet facing Service.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148;g31ed28cfa71_0_ 9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29" name="Rectangle 47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Box 51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7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1" name="TextBox 52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Expecting Instant Enforcement on Label Changes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32" name="Rectangle 33"/>
          <p:cNvSpPr/>
          <p:nvPr/>
        </p:nvSpPr>
        <p:spPr>
          <a:xfrm>
            <a:off x="773280" y="270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Rectangle 34"/>
          <p:cNvSpPr/>
          <p:nvPr/>
        </p:nvSpPr>
        <p:spPr>
          <a:xfrm>
            <a:off x="773280" y="270000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29"/>
          <p:cNvSpPr/>
          <p:nvPr/>
        </p:nvSpPr>
        <p:spPr>
          <a:xfrm>
            <a:off x="978840" y="282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5" name="TextBox 37"/>
          <p:cNvSpPr/>
          <p:nvPr/>
        </p:nvSpPr>
        <p:spPr>
          <a:xfrm>
            <a:off x="1019880" y="3413520"/>
            <a:ext cx="773136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relabel a pod mid-incident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kubectl label pod x \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role=quarantined --overwrite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...and assume the already-open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connection to that backend is now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blocked.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6" name="Rectangle 35"/>
          <p:cNvSpPr/>
          <p:nvPr/>
        </p:nvSpPr>
        <p:spPr>
          <a:xfrm>
            <a:off x="9414360" y="270036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Rectangle 36"/>
          <p:cNvSpPr/>
          <p:nvPr/>
        </p:nvSpPr>
        <p:spPr>
          <a:xfrm>
            <a:off x="9414360" y="270000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38"/>
          <p:cNvSpPr/>
          <p:nvPr/>
        </p:nvSpPr>
        <p:spPr>
          <a:xfrm>
            <a:off x="9619920" y="282096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9" name="TextBox 39"/>
          <p:cNvSpPr/>
          <p:nvPr/>
        </p:nvSpPr>
        <p:spPr>
          <a:xfrm>
            <a:off x="9660960" y="3413520"/>
            <a:ext cx="77313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treat relabeling as eventually-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consistent, not instant: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 - new identity =&gt; endpoint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   regenerates policy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 - enforcement is largely tied to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   connection-setup time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0" name="Rectangle 37"/>
          <p:cNvSpPr/>
          <p:nvPr/>
        </p:nvSpPr>
        <p:spPr>
          <a:xfrm>
            <a:off x="772920" y="7912080"/>
            <a:ext cx="16797240" cy="15040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Rectangle 38"/>
          <p:cNvSpPr/>
          <p:nvPr/>
        </p:nvSpPr>
        <p:spPr>
          <a:xfrm>
            <a:off x="772920" y="7912080"/>
            <a:ext cx="71280" cy="15040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40"/>
          <p:cNvSpPr/>
          <p:nvPr/>
        </p:nvSpPr>
        <p:spPr>
          <a:xfrm>
            <a:off x="1047600" y="8314560"/>
            <a:ext cx="1624860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Changing a Pod's labels recomputes its identity, but already established connections aren't re-evaluated against policy instantly - enforcement is largely at connection setup time. Exact behavior is version and config dependent.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48;g31ed28cfa71_0_ 10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44" name="Rectangle 66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Box 27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6" name="TextBox 28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Death by a Thousand NetPols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47" name="TextBox 46"/>
          <p:cNvSpPr/>
          <p:nvPr/>
        </p:nvSpPr>
        <p:spPr>
          <a:xfrm>
            <a:off x="907560" y="2702160"/>
            <a:ext cx="7610040" cy="43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8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Namespaces aren't ‘one app per ns’ - a shared ns like checkout might run multiple services.</a:t>
            </a: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18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Every service owner bolts on their own CNP whenever they need a new path open - no shared owner, no central review</a:t>
            </a: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18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Policies only ever compose additively - nobody's rule technically conflicts with anyone else's, they just keep piling up</a:t>
            </a: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18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Debugging a drop becomes “grep every CNP that selects this namespace and hope you find the one that's wrong”</a:t>
            </a: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18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The fix is centralizing NetPol authoring under one roof - but naive centralization has its own trap.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8" name="Rectangle 67"/>
          <p:cNvSpPr/>
          <p:nvPr/>
        </p:nvSpPr>
        <p:spPr>
          <a:xfrm>
            <a:off x="9000000" y="2770920"/>
            <a:ext cx="1533960" cy="5464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TextBox 50"/>
          <p:cNvSpPr/>
          <p:nvPr/>
        </p:nvSpPr>
        <p:spPr>
          <a:xfrm>
            <a:off x="9306000" y="2892240"/>
            <a:ext cx="923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Consolas"/>
                <a:ea typeface="DejaVu Sans"/>
              </a:rPr>
              <a:t>team-a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0" name="Rectangle 68"/>
          <p:cNvSpPr/>
          <p:nvPr/>
        </p:nvSpPr>
        <p:spPr>
          <a:xfrm>
            <a:off x="10721520" y="2770920"/>
            <a:ext cx="1533960" cy="5464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TextBox 76"/>
          <p:cNvSpPr/>
          <p:nvPr/>
        </p:nvSpPr>
        <p:spPr>
          <a:xfrm>
            <a:off x="10796760" y="2892240"/>
            <a:ext cx="13849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Consolas"/>
                <a:ea typeface="DejaVu Sans"/>
              </a:rPr>
              <a:t>team-b-in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2" name="Rectangle 69"/>
          <p:cNvSpPr/>
          <p:nvPr/>
        </p:nvSpPr>
        <p:spPr>
          <a:xfrm>
            <a:off x="12442320" y="2770920"/>
            <a:ext cx="1533960" cy="5464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77"/>
          <p:cNvSpPr/>
          <p:nvPr/>
        </p:nvSpPr>
        <p:spPr>
          <a:xfrm>
            <a:off x="12517560" y="2892240"/>
            <a:ext cx="13849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Consolas"/>
                <a:ea typeface="DejaVu Sans"/>
              </a:rPr>
              <a:t>legacy’23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4" name="Rectangle 70"/>
          <p:cNvSpPr/>
          <p:nvPr/>
        </p:nvSpPr>
        <p:spPr>
          <a:xfrm>
            <a:off x="14163840" y="2770920"/>
            <a:ext cx="1533960" cy="5464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TextBox 78"/>
          <p:cNvSpPr/>
          <p:nvPr/>
        </p:nvSpPr>
        <p:spPr>
          <a:xfrm>
            <a:off x="14239080" y="2892240"/>
            <a:ext cx="13849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Consolas"/>
                <a:ea typeface="DejaVu Sans"/>
              </a:rPr>
              <a:t>team-c-eg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6" name="Rectangle 71"/>
          <p:cNvSpPr/>
          <p:nvPr/>
        </p:nvSpPr>
        <p:spPr>
          <a:xfrm>
            <a:off x="15885360" y="2770920"/>
            <a:ext cx="1533960" cy="5464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79"/>
          <p:cNvSpPr/>
          <p:nvPr/>
        </p:nvSpPr>
        <p:spPr>
          <a:xfrm>
            <a:off x="16499160" y="2892240"/>
            <a:ext cx="307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Consolas"/>
                <a:ea typeface="DejaVu Sans"/>
              </a:rPr>
              <a:t>??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8" name="Connector 1"/>
          <p:cNvSpPr/>
          <p:nvPr/>
        </p:nvSpPr>
        <p:spPr>
          <a:xfrm>
            <a:off x="9767520" y="3319200"/>
            <a:ext cx="720" cy="6858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9" name="Connector 2"/>
          <p:cNvSpPr/>
          <p:nvPr/>
        </p:nvSpPr>
        <p:spPr>
          <a:xfrm>
            <a:off x="11489040" y="3319200"/>
            <a:ext cx="720" cy="6858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0" name="Connector 3"/>
          <p:cNvSpPr/>
          <p:nvPr/>
        </p:nvSpPr>
        <p:spPr>
          <a:xfrm>
            <a:off x="13210200" y="3319200"/>
            <a:ext cx="720" cy="6858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1" name="Connector 4"/>
          <p:cNvSpPr/>
          <p:nvPr/>
        </p:nvSpPr>
        <p:spPr>
          <a:xfrm>
            <a:off x="14931720" y="3319200"/>
            <a:ext cx="720" cy="6858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2" name="Connector 5"/>
          <p:cNvSpPr/>
          <p:nvPr/>
        </p:nvSpPr>
        <p:spPr>
          <a:xfrm>
            <a:off x="16653240" y="3319200"/>
            <a:ext cx="720" cy="6858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63" name="Rectangle 72"/>
          <p:cNvSpPr/>
          <p:nvPr/>
        </p:nvSpPr>
        <p:spPr>
          <a:xfrm>
            <a:off x="9205560" y="4005000"/>
            <a:ext cx="8433000" cy="3769920"/>
          </a:xfrm>
          <a:prstGeom prst="rect">
            <a:avLst/>
          </a:prstGeom>
          <a:solidFill>
            <a:srgbClr val="f7f8f9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80"/>
          <p:cNvSpPr/>
          <p:nvPr/>
        </p:nvSpPr>
        <p:spPr>
          <a:xfrm>
            <a:off x="9479880" y="4114800"/>
            <a:ext cx="4112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ns: checkout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65" name="Rectangle 73"/>
          <p:cNvSpPr/>
          <p:nvPr/>
        </p:nvSpPr>
        <p:spPr>
          <a:xfrm>
            <a:off x="9548280" y="4690800"/>
            <a:ext cx="3701160" cy="11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TextBox 81"/>
          <p:cNvSpPr/>
          <p:nvPr/>
        </p:nvSpPr>
        <p:spPr>
          <a:xfrm>
            <a:off x="11028960" y="5121360"/>
            <a:ext cx="740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A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67" name="Rectangle 74"/>
          <p:cNvSpPr/>
          <p:nvPr/>
        </p:nvSpPr>
        <p:spPr>
          <a:xfrm>
            <a:off x="13663080" y="4690800"/>
            <a:ext cx="3701160" cy="11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82"/>
          <p:cNvSpPr/>
          <p:nvPr/>
        </p:nvSpPr>
        <p:spPr>
          <a:xfrm>
            <a:off x="15139800" y="5121360"/>
            <a:ext cx="749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B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69" name="Rectangle 75"/>
          <p:cNvSpPr/>
          <p:nvPr/>
        </p:nvSpPr>
        <p:spPr>
          <a:xfrm>
            <a:off x="9548280" y="6199560"/>
            <a:ext cx="3701160" cy="11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83"/>
          <p:cNvSpPr/>
          <p:nvPr/>
        </p:nvSpPr>
        <p:spPr>
          <a:xfrm>
            <a:off x="11025000" y="6630120"/>
            <a:ext cx="749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C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1" name="Rectangle 76"/>
          <p:cNvSpPr/>
          <p:nvPr/>
        </p:nvSpPr>
        <p:spPr>
          <a:xfrm>
            <a:off x="13663080" y="6199560"/>
            <a:ext cx="3701160" cy="11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84"/>
          <p:cNvSpPr/>
          <p:nvPr/>
        </p:nvSpPr>
        <p:spPr>
          <a:xfrm>
            <a:off x="15139800" y="6630120"/>
            <a:ext cx="749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D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3" name="TextBox 85"/>
          <p:cNvSpPr/>
          <p:nvPr/>
        </p:nvSpPr>
        <p:spPr>
          <a:xfrm>
            <a:off x="9205560" y="8280000"/>
            <a:ext cx="8433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❓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which rule dropped this packet?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48;g31ed28cfa71_0_ 11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75" name="Rectangle 78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Box 87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7" name="TextBox 88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Death by a Thousand NetPols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78" name="Rounded Rectangle 2"/>
          <p:cNvSpPr/>
          <p:nvPr/>
        </p:nvSpPr>
        <p:spPr>
          <a:xfrm>
            <a:off x="7577640" y="1800000"/>
            <a:ext cx="3701160" cy="820800"/>
          </a:xfrm>
          <a:prstGeom prst="roundRect">
            <a:avLst>
              <a:gd name="adj" fmla="val 12000"/>
            </a:avLst>
          </a:prstGeom>
          <a:solidFill>
            <a:srgbClr val="f1e7f6"/>
          </a:solidFill>
          <a:ln w="15875">
            <a:solidFill>
              <a:srgbClr val="5426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Box 57"/>
          <p:cNvSpPr/>
          <p:nvPr/>
        </p:nvSpPr>
        <p:spPr>
          <a:xfrm>
            <a:off x="7578000" y="2050920"/>
            <a:ext cx="37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542671"/>
                </a:solidFill>
                <a:latin typeface="Arial"/>
                <a:ea typeface="DejaVu Sans"/>
              </a:rPr>
              <a:t>KubeAid Addons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0" name="Connector 10"/>
          <p:cNvSpPr/>
          <p:nvPr/>
        </p:nvSpPr>
        <p:spPr>
          <a:xfrm flipH="1">
            <a:off x="4766040" y="2622960"/>
            <a:ext cx="4183200" cy="685800"/>
          </a:xfrm>
          <a:prstGeom prst="line">
            <a:avLst/>
          </a:prstGeom>
          <a:ln w="19050">
            <a:solidFill>
              <a:srgbClr val="3d4e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onnector 11"/>
          <p:cNvSpPr/>
          <p:nvPr/>
        </p:nvSpPr>
        <p:spPr>
          <a:xfrm>
            <a:off x="9909360" y="2622960"/>
            <a:ext cx="4183560" cy="1028520"/>
          </a:xfrm>
          <a:prstGeom prst="line">
            <a:avLst/>
          </a:prstGeom>
          <a:ln w="19050">
            <a:solidFill>
              <a:srgbClr val="3d4e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Rectangle 49"/>
          <p:cNvSpPr/>
          <p:nvPr/>
        </p:nvSpPr>
        <p:spPr>
          <a:xfrm>
            <a:off x="1983240" y="3209400"/>
            <a:ext cx="5484240" cy="2809440"/>
          </a:xfrm>
          <a:prstGeom prst="rect">
            <a:avLst/>
          </a:prstGeom>
          <a:solidFill>
            <a:srgbClr val="ff6d6d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Box 58"/>
          <p:cNvSpPr/>
          <p:nvPr/>
        </p:nvSpPr>
        <p:spPr>
          <a:xfrm>
            <a:off x="2365920" y="3419640"/>
            <a:ext cx="479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Network Policies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4" name="TextBox 59"/>
          <p:cNvSpPr/>
          <p:nvPr/>
        </p:nvSpPr>
        <p:spPr>
          <a:xfrm>
            <a:off x="2434320" y="3804120"/>
            <a:ext cx="479844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App 1 netpol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App 2 netpol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App 3 netpol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App 4 netpol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2000" spc="-1" strike="noStrike">
                <a:solidFill>
                  <a:srgbClr val="3d4e5c"/>
                </a:solidFill>
                <a:latin typeface="Consolas"/>
                <a:ea typeface="DejaVu Sans"/>
              </a:rPr>
              <a:t>App 5 netpol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5" name="Rectangle 50"/>
          <p:cNvSpPr/>
          <p:nvPr/>
        </p:nvSpPr>
        <p:spPr>
          <a:xfrm>
            <a:off x="12378600" y="3651480"/>
            <a:ext cx="3426840" cy="82080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Box 67"/>
          <p:cNvSpPr/>
          <p:nvPr/>
        </p:nvSpPr>
        <p:spPr>
          <a:xfrm>
            <a:off x="12378600" y="3902760"/>
            <a:ext cx="342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default deny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7" name="Rectangle 51"/>
          <p:cNvSpPr/>
          <p:nvPr/>
        </p:nvSpPr>
        <p:spPr>
          <a:xfrm>
            <a:off x="720000" y="7012080"/>
            <a:ext cx="7815960" cy="212364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Rectangle 52"/>
          <p:cNvSpPr/>
          <p:nvPr/>
        </p:nvSpPr>
        <p:spPr>
          <a:xfrm>
            <a:off x="9223920" y="7012080"/>
            <a:ext cx="7815960" cy="212364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Box 68"/>
          <p:cNvSpPr/>
          <p:nvPr/>
        </p:nvSpPr>
        <p:spPr>
          <a:xfrm>
            <a:off x="720000" y="8717760"/>
            <a:ext cx="781596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 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TextBox 69"/>
          <p:cNvSpPr/>
          <p:nvPr/>
        </p:nvSpPr>
        <p:spPr>
          <a:xfrm>
            <a:off x="9223920" y="8717760"/>
            <a:ext cx="781596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 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1" name="Rectangle 60"/>
          <p:cNvSpPr/>
          <p:nvPr/>
        </p:nvSpPr>
        <p:spPr>
          <a:xfrm>
            <a:off x="1182600" y="7354800"/>
            <a:ext cx="1986840" cy="68364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Box 70"/>
          <p:cNvSpPr/>
          <p:nvPr/>
        </p:nvSpPr>
        <p:spPr>
          <a:xfrm>
            <a:off x="1182600" y="7537320"/>
            <a:ext cx="1986840" cy="31932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3" name="Rectangle 61"/>
          <p:cNvSpPr/>
          <p:nvPr/>
        </p:nvSpPr>
        <p:spPr>
          <a:xfrm>
            <a:off x="3634560" y="7354800"/>
            <a:ext cx="1986840" cy="68364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Box 71"/>
          <p:cNvSpPr/>
          <p:nvPr/>
        </p:nvSpPr>
        <p:spPr>
          <a:xfrm>
            <a:off x="3634560" y="7537320"/>
            <a:ext cx="1986840" cy="31932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5" name="Rectangle 62"/>
          <p:cNvSpPr/>
          <p:nvPr/>
        </p:nvSpPr>
        <p:spPr>
          <a:xfrm>
            <a:off x="6086160" y="7354800"/>
            <a:ext cx="1986840" cy="68364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Box 72"/>
          <p:cNvSpPr/>
          <p:nvPr/>
        </p:nvSpPr>
        <p:spPr>
          <a:xfrm>
            <a:off x="6086160" y="7537320"/>
            <a:ext cx="198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7" name="Rectangle 63"/>
          <p:cNvSpPr/>
          <p:nvPr/>
        </p:nvSpPr>
        <p:spPr>
          <a:xfrm>
            <a:off x="10504080" y="7354800"/>
            <a:ext cx="1986840" cy="68364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Box 73"/>
          <p:cNvSpPr/>
          <p:nvPr/>
        </p:nvSpPr>
        <p:spPr>
          <a:xfrm>
            <a:off x="10504080" y="7537320"/>
            <a:ext cx="1986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4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9" name="Rectangle 64"/>
          <p:cNvSpPr/>
          <p:nvPr/>
        </p:nvSpPr>
        <p:spPr>
          <a:xfrm>
            <a:off x="13772520" y="7354800"/>
            <a:ext cx="1986840" cy="68364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Box 74"/>
          <p:cNvSpPr/>
          <p:nvPr/>
        </p:nvSpPr>
        <p:spPr>
          <a:xfrm>
            <a:off x="13772520" y="7537320"/>
            <a:ext cx="1986840" cy="31932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App 5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01" name="Connector 12"/>
          <p:cNvSpPr/>
          <p:nvPr/>
        </p:nvSpPr>
        <p:spPr>
          <a:xfrm flipH="1">
            <a:off x="2176920" y="6120000"/>
            <a:ext cx="668880" cy="123480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Connector 13"/>
          <p:cNvSpPr/>
          <p:nvPr/>
        </p:nvSpPr>
        <p:spPr>
          <a:xfrm>
            <a:off x="3943080" y="6120000"/>
            <a:ext cx="685800" cy="123480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onnector 14"/>
          <p:cNvSpPr/>
          <p:nvPr/>
        </p:nvSpPr>
        <p:spPr>
          <a:xfrm>
            <a:off x="5040360" y="6120000"/>
            <a:ext cx="2040120" cy="123480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Connector 15"/>
          <p:cNvSpPr/>
          <p:nvPr/>
        </p:nvSpPr>
        <p:spPr>
          <a:xfrm>
            <a:off x="6137640" y="6120000"/>
            <a:ext cx="5360760" cy="123480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onnector 16"/>
          <p:cNvSpPr/>
          <p:nvPr/>
        </p:nvSpPr>
        <p:spPr>
          <a:xfrm>
            <a:off x="7234920" y="6120000"/>
            <a:ext cx="7531920" cy="123480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Connector 17"/>
          <p:cNvSpPr/>
          <p:nvPr/>
        </p:nvSpPr>
        <p:spPr>
          <a:xfrm flipH="1">
            <a:off x="4003200" y="4474440"/>
            <a:ext cx="9403560" cy="2537640"/>
          </a:xfrm>
          <a:prstGeom prst="line">
            <a:avLst/>
          </a:prstGeom>
          <a:ln w="25400">
            <a:solidFill>
              <a:srgbClr val="2e86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Connector 18"/>
          <p:cNvSpPr/>
          <p:nvPr/>
        </p:nvSpPr>
        <p:spPr>
          <a:xfrm flipH="1">
            <a:off x="12507120" y="4474440"/>
            <a:ext cx="2271240" cy="2537640"/>
          </a:xfrm>
          <a:prstGeom prst="line">
            <a:avLst/>
          </a:prstGeom>
          <a:ln w="25400">
            <a:solidFill>
              <a:srgbClr val="2e86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Rectangle 65"/>
          <p:cNvSpPr/>
          <p:nvPr/>
        </p:nvSpPr>
        <p:spPr>
          <a:xfrm>
            <a:off x="720000" y="9454680"/>
            <a:ext cx="546480" cy="66240"/>
          </a:xfrm>
          <a:prstGeom prst="rect">
            <a:avLst/>
          </a:prstGeom>
          <a:solidFill>
            <a:srgbClr val="d837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Box 75"/>
          <p:cNvSpPr/>
          <p:nvPr/>
        </p:nvSpPr>
        <p:spPr>
          <a:xfrm>
            <a:off x="1505160" y="9318960"/>
            <a:ext cx="6307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Network Policy - one per app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10" name="Rectangle 77"/>
          <p:cNvSpPr/>
          <p:nvPr/>
        </p:nvSpPr>
        <p:spPr>
          <a:xfrm>
            <a:off x="9223920" y="9525600"/>
            <a:ext cx="546480" cy="66240"/>
          </a:xfrm>
          <a:prstGeom prst="rect">
            <a:avLst/>
          </a:prstGeom>
          <a:solidFill>
            <a:srgbClr val="2e86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Box 86"/>
          <p:cNvSpPr/>
          <p:nvPr/>
        </p:nvSpPr>
        <p:spPr>
          <a:xfrm>
            <a:off x="9979560" y="9352800"/>
            <a:ext cx="7678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3d4e5c"/>
                </a:solidFill>
                <a:latin typeface="Arial"/>
                <a:ea typeface="DejaVu Sans"/>
              </a:rPr>
              <a:t>Default-deny - exactly once per namespace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94;p 1"/>
          <p:cNvSpPr/>
          <p:nvPr/>
        </p:nvSpPr>
        <p:spPr>
          <a:xfrm>
            <a:off x="1319760" y="4173480"/>
            <a:ext cx="1361916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2132a"/>
                </a:solidFill>
                <a:latin typeface="Manrope"/>
                <a:ea typeface="Manrope"/>
              </a:rPr>
              <a:t>2 things that would've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2132a"/>
                </a:solidFill>
                <a:latin typeface="Manrope"/>
                <a:ea typeface="Manrope"/>
              </a:rPr>
              <a:t>saved me time</a:t>
            </a:r>
            <a:endParaRPr b="0" lang="en-IN" sz="4400" spc="-1" strike="noStrike">
              <a:latin typeface="Arial"/>
            </a:endParaRPr>
          </a:p>
        </p:txBody>
      </p:sp>
      <p:pic>
        <p:nvPicPr>
          <p:cNvPr id="313" name="Google Shape;105;p 1" descr="preencoded.png"/>
          <p:cNvPicPr/>
          <p:nvPr/>
        </p:nvPicPr>
        <p:blipFill>
          <a:blip r:embed="rId1"/>
          <a:stretch/>
        </p:blipFill>
        <p:spPr>
          <a:xfrm>
            <a:off x="1047600" y="9029880"/>
            <a:ext cx="1215360" cy="532080"/>
          </a:xfrm>
          <a:prstGeom prst="rect">
            <a:avLst/>
          </a:prstGeom>
          <a:ln w="0">
            <a:noFill/>
          </a:ln>
        </p:spPr>
      </p:pic>
      <p:sp>
        <p:nvSpPr>
          <p:cNvPr id="314" name="Rectangle 86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Box 95"/>
          <p:cNvSpPr/>
          <p:nvPr/>
        </p:nvSpPr>
        <p:spPr>
          <a:xfrm>
            <a:off x="753840" y="7218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A Few Tips</a:t>
            </a:r>
            <a:endParaRPr b="0" lang="en-IN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148;g31ed28cfa71_0_ 12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17" name="Rectangle 79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Box 90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TIP 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19" name="TextBox 91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Additive Policy Composition - No Ordering, No Deny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20" name="Rectangle 81"/>
          <p:cNvSpPr/>
          <p:nvPr/>
        </p:nvSpPr>
        <p:spPr>
          <a:xfrm>
            <a:off x="773280" y="228312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Rectangle 83"/>
          <p:cNvSpPr/>
          <p:nvPr/>
        </p:nvSpPr>
        <p:spPr>
          <a:xfrm>
            <a:off x="773280" y="2282760"/>
            <a:ext cx="8224560" cy="5439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TextBox 92"/>
          <p:cNvSpPr/>
          <p:nvPr/>
        </p:nvSpPr>
        <p:spPr>
          <a:xfrm>
            <a:off x="978840" y="240372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20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23" name="TextBox 93"/>
          <p:cNvSpPr/>
          <p:nvPr/>
        </p:nvSpPr>
        <p:spPr>
          <a:xfrm>
            <a:off x="1019880" y="2996280"/>
            <a:ext cx="7731360" cy="39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team A's policy (unrelated purpose):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CiliumNetworkPolicy: policy-a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 {matchLabels: {app: payments}}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 [...]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team B later adds their OWN policy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selecting the SAME pod, for a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totally different reason: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CiliumNetworkPolicy: policy-b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 {matchLabels: {app: payments}}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 [...]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the moment EITHER selects this pod,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ingress flips to default-deny for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600" spc="-1" strike="noStrike">
                <a:solidFill>
                  <a:srgbClr val="0d2436"/>
                </a:solidFill>
                <a:latin typeface="Consolas"/>
                <a:ea typeface="DejaVu Sans"/>
              </a:rPr>
              <a:t># BOTH -- nobody declared that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4" name="Rectangle 84"/>
          <p:cNvSpPr/>
          <p:nvPr/>
        </p:nvSpPr>
        <p:spPr>
          <a:xfrm>
            <a:off x="9414360" y="2283120"/>
            <a:ext cx="8224560" cy="48643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Rectangle 85"/>
          <p:cNvSpPr/>
          <p:nvPr/>
        </p:nvSpPr>
        <p:spPr>
          <a:xfrm>
            <a:off x="9414360" y="2282760"/>
            <a:ext cx="8224560" cy="5439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TextBox 94"/>
          <p:cNvSpPr/>
          <p:nvPr/>
        </p:nvSpPr>
        <p:spPr>
          <a:xfrm>
            <a:off x="9619920" y="2403720"/>
            <a:ext cx="7813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2000" spc="-1" strike="noStrike">
                <a:solidFill>
                  <a:srgbClr val="1e8e3e"/>
                </a:solidFill>
                <a:latin typeface="Arial"/>
                <a:ea typeface="DejaVu Sans"/>
              </a:rPr>
              <a:t>BETTER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27" name="TextBox 97"/>
          <p:cNvSpPr/>
          <p:nvPr/>
        </p:nvSpPr>
        <p:spPr>
          <a:xfrm>
            <a:off x="9660960" y="2996280"/>
            <a:ext cx="7731360" cy="40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there is no priority / ordering /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explicit-deny model in Cilium --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every applicable rule is OR'd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together into one allow set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before shipping a policy that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selects a shared pod, check who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else already selects it: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kubectl get cnp -n &lt;ns&gt; -o \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jsonpath='{.items[*].metadata.name}'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you can't deny your way out of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900" spc="-1" strike="noStrike">
                <a:solidFill>
                  <a:srgbClr val="0d2436"/>
                </a:solidFill>
                <a:latin typeface="Consolas"/>
                <a:ea typeface="DejaVu Sans"/>
              </a:rPr>
              <a:t># someone else's allow rule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328" name="Rectangle 87"/>
          <p:cNvSpPr/>
          <p:nvPr/>
        </p:nvSpPr>
        <p:spPr>
          <a:xfrm>
            <a:off x="772920" y="7494840"/>
            <a:ext cx="16797240" cy="15040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9" name="Rectangle 88"/>
          <p:cNvSpPr/>
          <p:nvPr/>
        </p:nvSpPr>
        <p:spPr>
          <a:xfrm>
            <a:off x="772920" y="7494840"/>
            <a:ext cx="71280" cy="15040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TextBox 98"/>
          <p:cNvSpPr/>
          <p:nvPr/>
        </p:nvSpPr>
        <p:spPr>
          <a:xfrm>
            <a:off x="1047600" y="7898040"/>
            <a:ext cx="1624860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Multiple CNP selecting the same Pod gets OR'd together, and the moment any policy selects a Pod for a direction, that direction becomes default-deny for everyone touching that Pod. There's no explicit DENY that overrides another policy's ALLOW.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148;g31ed28cfa71_0_ 13"/>
          <p:cNvSpPr/>
          <p:nvPr/>
        </p:nvSpPr>
        <p:spPr>
          <a:xfrm>
            <a:off x="556920" y="-68760"/>
            <a:ext cx="157680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32" name="Rectangle 82"/>
          <p:cNvSpPr/>
          <p:nvPr/>
        </p:nvSpPr>
        <p:spPr>
          <a:xfrm>
            <a:off x="3600" y="0"/>
            <a:ext cx="18283320" cy="1618920"/>
          </a:xfrm>
          <a:prstGeom prst="rect">
            <a:avLst/>
          </a:prstGeom>
          <a:solidFill>
            <a:srgbClr val="1213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Box 109"/>
          <p:cNvSpPr/>
          <p:nvPr/>
        </p:nvSpPr>
        <p:spPr>
          <a:xfrm>
            <a:off x="753840" y="415440"/>
            <a:ext cx="14808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bd9df"/>
                </a:solidFill>
                <a:latin typeface="Arial"/>
                <a:ea typeface="DejaVu Sans"/>
              </a:rPr>
              <a:t>TIP 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34" name="TextBox 110"/>
          <p:cNvSpPr/>
          <p:nvPr/>
        </p:nvSpPr>
        <p:spPr>
          <a:xfrm>
            <a:off x="753840" y="720000"/>
            <a:ext cx="148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DejaVu Sans"/>
              </a:rPr>
              <a:t>Debugging: How We Actually Find the Drop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35" name="TextBox 55"/>
          <p:cNvSpPr/>
          <p:nvPr/>
        </p:nvSpPr>
        <p:spPr>
          <a:xfrm>
            <a:off x="568800" y="2880360"/>
            <a:ext cx="7675560" cy="39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15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Identify the failing pod - the app log usually names the peer it couldn't reach</a:t>
            </a:r>
            <a:endParaRPr b="0" lang="en-IN" sz="2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5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Find the Cilium pod on that node, then query Hubble for DROPPED verdicts scoped to the namespace or pod</a:t>
            </a:r>
            <a:endParaRPr b="0" lang="en-IN" sz="2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5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Read the verdict: policy-verdict:none = no policy allows it · EGRESS/INGRESS DENIED tells you the direction</a:t>
            </a:r>
            <a:endParaRPr b="0" lang="en-IN" sz="24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5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3d4e5c"/>
                </a:solidFill>
                <a:latin typeface="Arial"/>
                <a:ea typeface="DejaVu Sans"/>
              </a:rPr>
              <a:t>Fix the policy, re-apply, re-test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36" name="Rectangle 48"/>
          <p:cNvSpPr/>
          <p:nvPr/>
        </p:nvSpPr>
        <p:spPr>
          <a:xfrm>
            <a:off x="8798040" y="2880000"/>
            <a:ext cx="8498520" cy="59612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Rectangle 80"/>
          <p:cNvSpPr/>
          <p:nvPr/>
        </p:nvSpPr>
        <p:spPr>
          <a:xfrm>
            <a:off x="8798040" y="2880360"/>
            <a:ext cx="8498520" cy="543240"/>
          </a:xfrm>
          <a:prstGeom prst="rect">
            <a:avLst/>
          </a:prstGeom>
          <a:solidFill>
            <a:srgbClr val="e7ec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TextBox 56"/>
          <p:cNvSpPr/>
          <p:nvPr/>
        </p:nvSpPr>
        <p:spPr>
          <a:xfrm>
            <a:off x="9003960" y="3000960"/>
            <a:ext cx="8087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0d2436"/>
                </a:solidFill>
                <a:latin typeface="Arial"/>
                <a:ea typeface="DejaVu Sans"/>
              </a:rPr>
              <a:t>$ hubble observe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39" name="TextBox 89"/>
          <p:cNvSpPr/>
          <p:nvPr/>
        </p:nvSpPr>
        <p:spPr>
          <a:xfrm>
            <a:off x="9045000" y="3593520"/>
            <a:ext cx="8004960" cy="42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kubectl exec -n cilium &lt;cilium-pod&gt; --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hubble observe --namespace &lt;ns&gt; \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--verdict DROPPED --last 50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per-pod, and live-follow variants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also available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# example output: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test-oncall/engine:46440 (ID:5057)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test-oncall/oncall-pgsql-1:5432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(ID:56144)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policy-verdict:none EGRESS DENIED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d2436"/>
                </a:solidFill>
                <a:latin typeface="Consolas"/>
                <a:ea typeface="DejaVu Sans"/>
              </a:rPr>
              <a:t>(TCP Flags: SYN)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92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174;p14" descr="preencoded.png"/>
          <p:cNvPicPr/>
          <p:nvPr/>
        </p:nvPicPr>
        <p:blipFill>
          <a:blip r:embed="rId1"/>
          <a:stretch/>
        </p:blipFill>
        <p:spPr>
          <a:xfrm>
            <a:off x="1047600" y="876240"/>
            <a:ext cx="4189680" cy="1836000"/>
          </a:xfrm>
          <a:prstGeom prst="rect">
            <a:avLst/>
          </a:prstGeom>
          <a:ln w="0">
            <a:noFill/>
          </a:ln>
        </p:spPr>
      </p:pic>
      <p:sp>
        <p:nvSpPr>
          <p:cNvPr id="341" name="Google Shape;175;p14"/>
          <p:cNvSpPr/>
          <p:nvPr/>
        </p:nvSpPr>
        <p:spPr>
          <a:xfrm>
            <a:off x="911160" y="3060000"/>
            <a:ext cx="12047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76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Manrope"/>
                <a:ea typeface="Manrope"/>
              </a:rPr>
              <a:t>Thank you</a:t>
            </a:r>
            <a:endParaRPr b="0" lang="en-IN" sz="6600" spc="-1" strike="noStrike"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2"/>
          <a:stretch/>
        </p:blipFill>
        <p:spPr>
          <a:xfrm>
            <a:off x="3600000" y="4531680"/>
            <a:ext cx="2604960" cy="2604960"/>
          </a:xfrm>
          <a:prstGeom prst="rect">
            <a:avLst/>
          </a:prstGeom>
          <a:ln w="0">
            <a:noFill/>
          </a:ln>
        </p:spPr>
      </p:pic>
      <p:sp>
        <p:nvSpPr>
          <p:cNvPr id="343" name="TextBox 53"/>
          <p:cNvSpPr/>
          <p:nvPr/>
        </p:nvSpPr>
        <p:spPr>
          <a:xfrm>
            <a:off x="3866760" y="7386480"/>
            <a:ext cx="21589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200" spc="-1" strike="noStrike" u="sng">
                <a:solidFill>
                  <a:srgbClr val="ffffff"/>
                </a:solidFill>
                <a:uFillTx/>
                <a:latin typeface="Arial"/>
                <a:ea typeface="DejaVu Sans"/>
              </a:rPr>
              <a:t>kubeaid.io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3"/>
          <a:stretch/>
        </p:blipFill>
        <p:spPr>
          <a:xfrm>
            <a:off x="10526400" y="4500000"/>
            <a:ext cx="2522160" cy="2522520"/>
          </a:xfrm>
          <a:prstGeom prst="rect">
            <a:avLst/>
          </a:prstGeom>
          <a:ln w="0">
            <a:noFill/>
          </a:ln>
        </p:spPr>
      </p:pic>
      <p:sp>
        <p:nvSpPr>
          <p:cNvPr id="345" name="TextBox 54"/>
          <p:cNvSpPr/>
          <p:nvPr/>
        </p:nvSpPr>
        <p:spPr>
          <a:xfrm>
            <a:off x="9000000" y="7333560"/>
            <a:ext cx="67456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3200" spc="-1" strike="noStrike" u="sng">
                <a:solidFill>
                  <a:srgbClr val="ffffff"/>
                </a:solidFill>
                <a:uFillTx/>
                <a:latin typeface="Arial"/>
                <a:ea typeface="DejaVu Sans"/>
              </a:rPr>
              <a:t>github.com/obmondo/KubeAid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2026-08-21T03:04:55Z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